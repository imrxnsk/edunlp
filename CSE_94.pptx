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69" r:id="rId6"/>
    <p:sldId id="275" r:id="rId7"/>
    <p:sldId id="276" r:id="rId8"/>
    <p:sldId id="279" r:id="rId9"/>
    <p:sldId id="277" r:id="rId10"/>
    <p:sldId id="278" r:id="rId11"/>
    <p:sldId id="281" r:id="rId12"/>
    <p:sldId id="283" r:id="rId13"/>
    <p:sldId id="285" r:id="rId14"/>
    <p:sldId id="273" r:id="rId15"/>
    <p:sldId id="271" r:id="rId16"/>
    <p:sldId id="293" r:id="rId17"/>
    <p:sldId id="270" r:id="rId18"/>
    <p:sldId id="284" r:id="rId19"/>
    <p:sldId id="265" r:id="rId20"/>
    <p:sldId id="280" r:id="rId21"/>
    <p:sldId id="26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9pPr>
          </a:lstStyle>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20https://github.com/imrxnsk/SmartEduRural.git" TargetMode="Externa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algn="ctr"/>
            <a:r>
              <a:rPr lang="en-GB" sz="2400" dirty="0">
                <a:solidFill>
                  <a:schemeClr val="tx1"/>
                </a:solidFill>
                <a:latin typeface="Cambria"/>
                <a:ea typeface="Cambria"/>
              </a:rPr>
              <a:t>SYSTEM TO ENHANCE EDUCATION QUALITY IN RURAL AREAS</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indent="0" algn="l">
              <a:spcBef>
                <a:spcPts val="0"/>
              </a:spcBef>
            </a:pPr>
            <a:r>
              <a:rPr lang="en-GB" sz="1800">
                <a:latin typeface="Cambria"/>
                <a:ea typeface="Cambria"/>
              </a:rPr>
              <a:t>Batch Number: CSE_94</a:t>
            </a:r>
            <a:endParaRPr sz="180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1800" b="1" i="0" u="none" strike="noStrike" cap="none" dirty="0">
                <a:solidFill>
                  <a:srgbClr val="17365D"/>
                </a:solidFill>
                <a:latin typeface="Cambria"/>
                <a:ea typeface="Cambria"/>
                <a:cs typeface="Verdana" panose="020B0604030504040204"/>
                <a:sym typeface="Verdana" panose="020B0604030504040204"/>
              </a:rPr>
              <a:t>Under the Supervision of,</a:t>
            </a:r>
            <a:endParaRPr sz="1800" dirty="0">
              <a:latin typeface="Cambria"/>
              <a:ea typeface="Cambria"/>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algn="just">
              <a:spcBef>
                <a:spcPts val="340"/>
              </a:spcBef>
              <a:buClr>
                <a:srgbClr val="17365D"/>
              </a:buClr>
              <a:buSzPts val="1700"/>
            </a:pPr>
            <a:r>
              <a:rPr lang="en-GB" sz="1700" b="1" i="0" u="none" strike="noStrike" cap="none" dirty="0">
                <a:solidFill>
                  <a:srgbClr val="17365D"/>
                </a:solidFill>
                <a:latin typeface="Cambria"/>
                <a:ea typeface="Cambria"/>
                <a:cs typeface="Verdana" panose="020B0604030504040204"/>
                <a:sym typeface="Verdana" panose="020B0604030504040204"/>
              </a:rPr>
              <a:t>Dr.</a:t>
            </a:r>
            <a:r>
              <a:rPr lang="en-GB" sz="1700" b="1" dirty="0">
                <a:solidFill>
                  <a:srgbClr val="17365D"/>
                </a:solidFill>
                <a:latin typeface="Cambria"/>
                <a:ea typeface="Cambria"/>
                <a:cs typeface="Verdana" panose="020B0604030504040204"/>
                <a:sym typeface="Verdana" panose="020B0604030504040204"/>
              </a:rPr>
              <a:t> Prema Arokia Mary G</a:t>
            </a:r>
            <a:endParaRPr dirty="0">
              <a:latin typeface="Cambria" panose="02040503050406030204" pitchFamily="18" charset="0"/>
              <a:ea typeface="Cambria" panose="02040503050406030204" pitchFamily="18" charset="0"/>
            </a:endParaRPr>
          </a:p>
          <a:p>
            <a:pPr marL="0" marR="0" lvl="0" indent="0" algn="just" rtl="0">
              <a:spcBef>
                <a:spcPts val="340"/>
              </a:spcBef>
              <a:spcAft>
                <a:spcPts val="0"/>
              </a:spcAft>
              <a:buClr>
                <a:srgbClr val="17365D"/>
              </a:buClr>
              <a:buSzPts val="1700"/>
              <a:buFont typeface="Arial" panose="020B0604020202020204"/>
              <a:buNone/>
            </a:pPr>
            <a:r>
              <a:rPr lang="en-GB" sz="1700" b="1" dirty="0">
                <a:solidFill>
                  <a:srgbClr val="17365D"/>
                </a:solidFill>
                <a:latin typeface="Cambria"/>
                <a:ea typeface="Cambria"/>
                <a:cs typeface="Verdana" panose="020B0604030504040204"/>
                <a:sym typeface="Verdana" panose="020B0604030504040204"/>
              </a:rPr>
              <a:t>Associate</a:t>
            </a:r>
            <a:r>
              <a:rPr lang="en-GB" sz="1700" b="1" i="0" u="none" strike="noStrike" cap="none" dirty="0">
                <a:solidFill>
                  <a:srgbClr val="17365D"/>
                </a:solidFill>
                <a:latin typeface="Cambria"/>
                <a:ea typeface="Cambria"/>
                <a:cs typeface="Verdana" panose="020B0604030504040204"/>
                <a:sym typeface="Verdana" panose="020B0604030504040204"/>
              </a:rPr>
              <a:t> Professor </a:t>
            </a:r>
            <a:endParaRPr dirty="0">
              <a:latin typeface="Cambria"/>
              <a:ea typeface="Cambria"/>
            </a:endParaRPr>
          </a:p>
          <a:p>
            <a:pPr marL="0" marR="0" lvl="0" indent="0" algn="just"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a:ea typeface="Cambria"/>
                <a:cs typeface="Verdana" panose="020B0604030504040204"/>
                <a:sym typeface="Verdana" panose="020B0604030504040204"/>
              </a:rPr>
              <a:t>School of Computer Science and Engineering</a:t>
            </a:r>
            <a:endParaRPr dirty="0">
              <a:latin typeface="Cambria"/>
              <a:ea typeface="Cambria"/>
            </a:endParaRPr>
          </a:p>
          <a:p>
            <a:pPr marL="0" marR="0" lvl="0" indent="0" algn="just"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a:ea typeface="Cambria"/>
                <a:cs typeface="Verdana" panose="020B0604030504040204"/>
                <a:sym typeface="Verdana" panose="020B0604030504040204"/>
              </a:rPr>
              <a:t>Presidency University</a:t>
            </a:r>
            <a:endParaRPr dirty="0">
              <a:latin typeface="Cambria"/>
              <a:ea typeface="Cambria"/>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89" name="Google Shape;89;p13"/>
          <p:cNvGraphicFramePr/>
          <p:nvPr/>
        </p:nvGraphicFramePr>
        <p:xfrm>
          <a:off x="553347" y="2721840"/>
          <a:ext cx="5418675" cy="2468940"/>
        </p:xfrm>
        <a:graphic>
          <a:graphicData uri="http://schemas.openxmlformats.org/drawingml/2006/table">
            <a:tbl>
              <a:tblPr firstRow="1" bandRow="1">
                <a:noFill/>
                <a:tableStyleId>{57690726-49DA-4552-BDEB-330DD8EA8BD9}</a:tableStyleId>
              </a:tblPr>
              <a:tblGrid>
                <a:gridCol w="2085000"/>
                <a:gridCol w="3333675"/>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Font typeface="+mj-lt"/>
                        <a:buNone/>
                      </a:pPr>
                      <a:r>
                        <a:rPr lang="en-US" sz="1800" u="none" strike="noStrike" cap="none" dirty="0"/>
                        <a:t>20221CSE0484</a:t>
                      </a:r>
                      <a:endParaRPr lang="en-US"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K SAI SRI</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r>
                        <a:rPr lang="en-US" sz="1800" u="none" strike="noStrike" cap="none" dirty="0"/>
                        <a:t>20221CSE0446</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MEGHANA K</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r>
                        <a:rPr lang="en-US" sz="1800" u="none" strike="noStrike" cap="none" dirty="0"/>
                        <a:t>20221CSE0061</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SHAIK MOHAMMED IMRAN</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dirty="0">
                <a:solidFill>
                  <a:srgbClr val="17365D"/>
                </a:solidFill>
                <a:latin typeface="Cambria"/>
                <a:ea typeface="Cambria"/>
                <a:cs typeface="Verdana" panose="020B0604030504040204"/>
                <a:sym typeface="Verdana" panose="020B0604030504040204"/>
              </a:rPr>
              <a:t>CSE7101-</a:t>
            </a:r>
            <a:r>
              <a:rPr lang="en-GB" sz="1800" b="1" i="0" u="none" strike="noStrike" cap="none" dirty="0">
                <a:solidFill>
                  <a:srgbClr val="17365D"/>
                </a:solidFill>
                <a:latin typeface="Cambria"/>
                <a:ea typeface="Cambria"/>
                <a:cs typeface="Verdana" panose="020B0604030504040204"/>
                <a:sym typeface="Verdana" panose="020B0604030504040204"/>
              </a:rPr>
              <a:t> Capstone Project</a:t>
            </a:r>
            <a:endParaRPr sz="1800" dirty="0">
              <a:latin typeface="Cambria"/>
              <a:ea typeface="Cambria"/>
            </a:endParaRPr>
          </a:p>
          <a:p>
            <a:pPr marL="0" marR="0" lvl="0" indent="0" algn="ctr" rtl="0">
              <a:spcBef>
                <a:spcPts val="310"/>
              </a:spcBef>
              <a:spcAft>
                <a:spcPts val="0"/>
              </a:spcAft>
              <a:buClr>
                <a:srgbClr val="17365D"/>
              </a:buClr>
              <a:buSzPct val="100000"/>
              <a:buFont typeface="Arial" panose="020B0604020202020204"/>
              <a:buNone/>
            </a:pPr>
            <a:r>
              <a:rPr lang="en-US" altLang="en-GB" sz="1800" b="1" i="0" u="none" strike="noStrike" cap="none" dirty="0">
                <a:solidFill>
                  <a:srgbClr val="17365D"/>
                </a:solidFill>
                <a:latin typeface="Cambria"/>
                <a:ea typeface="Cambria"/>
                <a:cs typeface="Verdana" panose="020B0604030504040204"/>
                <a:sym typeface="Verdana" panose="020B0604030504040204"/>
              </a:rPr>
              <a:t>FINAL VIVA</a:t>
            </a:r>
            <a:endParaRPr lang="en-US" altLang="en-GB" sz="1800" b="1" i="0" u="none" strike="noStrike" cap="none" dirty="0">
              <a:solidFill>
                <a:srgbClr val="17365D"/>
              </a:solidFill>
              <a:latin typeface="Cambria"/>
              <a:ea typeface="Cambria"/>
              <a:cs typeface="Verdana" panose="020B0604030504040204"/>
              <a:sym typeface="Verdana" panose="020B0604030504040204"/>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a:buClr>
                <a:srgbClr val="17365D"/>
              </a:buClr>
              <a:buSzPct val="100000"/>
            </a:pPr>
            <a:r>
              <a:rPr lang="en-US" sz="1800" b="1" i="0" u="none" strike="noStrike" cap="none" dirty="0">
                <a:solidFill>
                  <a:schemeClr val="accent1"/>
                </a:solidFill>
                <a:latin typeface="Cambria"/>
                <a:ea typeface="Cambria"/>
                <a:cs typeface="Verdana" panose="020B0604030504040204"/>
                <a:sym typeface="Verdana" panose="020B0604030504040204"/>
              </a:rPr>
              <a:t>Name of the Program: </a:t>
            </a:r>
            <a:r>
              <a:rPr lang="en-US" sz="1800" b="1" dirty="0" err="1">
                <a:solidFill>
                  <a:schemeClr val="accent1"/>
                </a:solidFill>
                <a:latin typeface="Cambria"/>
                <a:ea typeface="Cambria"/>
                <a:cs typeface="Verdana" panose="020B0604030504040204"/>
                <a:sym typeface="Verdana" panose="020B0604030504040204"/>
              </a:rPr>
              <a:t>B.Tech</a:t>
            </a:r>
            <a:r>
              <a:rPr lang="en-US" sz="1800" b="1" dirty="0">
                <a:solidFill>
                  <a:schemeClr val="accent1"/>
                </a:solidFill>
                <a:latin typeface="Cambria"/>
                <a:ea typeface="Cambria"/>
                <a:cs typeface="Verdana" panose="020B0604030504040204"/>
                <a:sym typeface="Verdana" panose="020B0604030504040204"/>
              </a:rPr>
              <a:t>, Computer Science and Engineering</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a:buClr>
                <a:srgbClr val="17365D"/>
              </a:buClr>
              <a:buSzPct val="100000"/>
            </a:pPr>
            <a:r>
              <a:rPr lang="en-US" sz="1800" b="1" dirty="0">
                <a:solidFill>
                  <a:schemeClr val="accent1"/>
                </a:solidFill>
                <a:latin typeface="Cambria"/>
                <a:ea typeface="Cambria"/>
                <a:cs typeface="Verdana" panose="020B0604030504040204"/>
                <a:sym typeface="Verdana" panose="020B0604030504040204"/>
              </a:rPr>
              <a:t>Name of the </a:t>
            </a:r>
            <a:r>
              <a:rPr lang="en-US" sz="1800" b="1" dirty="0" err="1">
                <a:solidFill>
                  <a:schemeClr val="accent1"/>
                </a:solidFill>
                <a:latin typeface="Cambria"/>
                <a:ea typeface="Cambria"/>
                <a:cs typeface="Verdana" panose="020B0604030504040204"/>
                <a:sym typeface="Verdana" panose="020B0604030504040204"/>
              </a:rPr>
              <a:t>HoD</a:t>
            </a:r>
            <a:r>
              <a:rPr lang="en-US" sz="1800" b="1" dirty="0">
                <a:solidFill>
                  <a:schemeClr val="accent1"/>
                </a:solidFill>
                <a:latin typeface="Cambria"/>
                <a:ea typeface="Cambria"/>
                <a:cs typeface="Verdana" panose="020B0604030504040204"/>
                <a:sym typeface="Verdana" panose="020B0604030504040204"/>
              </a:rPr>
              <a:t>: </a:t>
            </a:r>
            <a:r>
              <a:rPr lang="en-US" sz="1800" b="1" dirty="0">
                <a:solidFill>
                  <a:schemeClr val="tx1"/>
                </a:solidFill>
                <a:latin typeface="Cambria"/>
                <a:ea typeface="Cambria"/>
                <a:cs typeface="Verdana" panose="020B0604030504040204"/>
                <a:sym typeface="Verdana" panose="020B0604030504040204"/>
              </a:rPr>
              <a:t>Dr. Blessed Prince</a:t>
            </a:r>
            <a:endParaRPr lang="en-US" sz="1800" b="1" dirty="0">
              <a:solidFill>
                <a:srgbClr val="FF0000"/>
              </a:solidFill>
              <a:latin typeface="Cambria" panose="02040503050406030204" pitchFamily="18" charset="0"/>
              <a:ea typeface="Cambria" panose="02040503050406030204" pitchFamily="18" charset="0"/>
              <a:cs typeface="Verdana" panose="020B0604030504040204"/>
            </a:endParaRPr>
          </a:p>
          <a:p>
            <a:pPr>
              <a:buClr>
                <a:srgbClr val="17365D"/>
              </a:buClr>
              <a:buSzPct val="100000"/>
            </a:pPr>
            <a:r>
              <a:rPr lang="en-US" sz="1800" b="1" i="0" u="none" strike="noStrike" cap="none" dirty="0">
                <a:solidFill>
                  <a:schemeClr val="accent1"/>
                </a:solidFill>
                <a:latin typeface="Cambria"/>
                <a:ea typeface="Cambria"/>
                <a:cs typeface="Verdana" panose="020B0604030504040204"/>
                <a:sym typeface="Verdana" panose="020B0604030504040204"/>
              </a:rPr>
              <a:t>Name of the Program Project Coordinator: </a:t>
            </a:r>
            <a:r>
              <a:rPr lang="en-US" sz="1800" b="1" dirty="0">
                <a:solidFill>
                  <a:schemeClr val="tx1"/>
                </a:solidFill>
                <a:latin typeface="Cambria"/>
                <a:ea typeface="Cambria"/>
                <a:cs typeface="Verdana" panose="020B0604030504040204"/>
                <a:sym typeface="Verdana" panose="020B0604030504040204"/>
              </a:rPr>
              <a:t>DR. MUTHURAJU V</a:t>
            </a:r>
            <a:endParaRPr lang="en-US" sz="1800" b="1" dirty="0">
              <a:solidFill>
                <a:srgbClr val="FF0000"/>
              </a:solidFill>
              <a:latin typeface="Cambria" panose="02040503050406030204" pitchFamily="18" charset="0"/>
              <a:ea typeface="Cambria" panose="02040503050406030204" pitchFamily="18" charset="0"/>
              <a:cs typeface="Verdana" panose="020B0604030504040204"/>
            </a:endParaRPr>
          </a:p>
          <a:p>
            <a:pPr lvl="0">
              <a:buClr>
                <a:srgbClr val="17365D"/>
              </a:buClr>
              <a:buSzPct val="100000"/>
            </a:pPr>
            <a:r>
              <a:rPr lang="en-US" sz="1800" b="1" dirty="0">
                <a:solidFill>
                  <a:schemeClr val="accent1"/>
                </a:solidFill>
                <a:latin typeface="Cambria"/>
                <a:ea typeface="Cambria"/>
                <a:cs typeface="Verdana" panose="020B0604030504040204"/>
                <a:sym typeface="Verdana" panose="020B0604030504040204"/>
              </a:rPr>
              <a:t>Name of the School Project Coordinators: </a:t>
            </a:r>
            <a:r>
              <a:rPr lang="en-US" sz="1800" b="1" i="0" u="none" strike="noStrike" cap="none" dirty="0">
                <a:solidFill>
                  <a:schemeClr val="tx1"/>
                </a:solidFill>
                <a:latin typeface="Cambria"/>
                <a:ea typeface="Cambria"/>
                <a:cs typeface="Verdana" panose="020B0604030504040204"/>
                <a:sym typeface="Verdana" panose="020B0604030504040204"/>
              </a:rPr>
              <a:t>Dr. Sampath A K , Dr. Geetha A </a:t>
            </a:r>
            <a:endParaRPr sz="1800" b="1" i="0" u="none" strike="noStrike" cap="none" dirty="0">
              <a:solidFill>
                <a:schemeClr val="tx1"/>
              </a:solidFill>
              <a:latin typeface="Cambria"/>
              <a:ea typeface="Cambria"/>
              <a:cs typeface="Verdana" panose="020B0604030504040204"/>
              <a:sym typeface="Verdana" panose="020B060403050404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a:latin typeface="Cambria" panose="02040503050406030204" pitchFamily="18" charset="0"/>
                <a:ea typeface="Cambria" panose="02040503050406030204" pitchFamily="18" charset="0"/>
              </a:rPr>
              <a:t>Content</a:t>
            </a:r>
            <a:endParaRPr>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955" y="1037590"/>
            <a:ext cx="10668000" cy="4867910"/>
          </a:xfrm>
          <a:prstGeom prst="rect">
            <a:avLst/>
          </a:prstGeom>
          <a:noFill/>
          <a:ln>
            <a:noFill/>
          </a:ln>
        </p:spPr>
        <p:txBody>
          <a:bodyPr spcFirstLastPara="1" wrap="square" lIns="91425" tIns="45700" rIns="91425" bIns="45700" anchor="t" anchorCtr="0">
            <a:normAutofit fontScale="60000" lnSpcReduction="20000"/>
          </a:bodyPr>
          <a:lstStyle/>
          <a:p>
            <a:pPr marL="49530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Problem Statement</a:t>
            </a:r>
            <a:endParaRPr lang="en-US">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Objectives</a:t>
            </a:r>
            <a:endParaRPr lang="en-US">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Background and Related work for title Selection</a:t>
            </a:r>
            <a:endParaRPr lang="en-US">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Architecture Diagram</a:t>
            </a:r>
            <a:endParaRPr lang="en-US">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Modules </a:t>
            </a:r>
            <a:endParaRPr lang="en-US">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Algorithms</a:t>
            </a:r>
            <a:endParaRPr lang="en-US">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Hardware and Software Requirements </a:t>
            </a:r>
            <a:endParaRPr lang="en-US">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Innovation or Novel Contributions</a:t>
            </a:r>
            <a:endParaRPr lang="en-US" sz="320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err="1">
                <a:latin typeface="Cambria" panose="02040503050406030204" pitchFamily="18" charset="0"/>
                <a:ea typeface="Cambria" panose="02040503050406030204" pitchFamily="18" charset="0"/>
              </a:rPr>
              <a:t>Git</a:t>
            </a:r>
            <a:r>
              <a:rPr lang="en-US">
                <a:latin typeface="Cambria" panose="02040503050406030204" pitchFamily="18" charset="0"/>
                <a:ea typeface="Cambria" panose="02040503050406030204" pitchFamily="18" charset="0"/>
              </a:rPr>
              <a:t>-hub Link</a:t>
            </a: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a:latin typeface="Cambria" panose="02040503050406030204" pitchFamily="18" charset="0"/>
                <a:ea typeface="Cambria" panose="02040503050406030204" pitchFamily="18" charset="0"/>
              </a:rPr>
              <a:t>Timeline of the Project</a:t>
            </a: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a:latin typeface="Cambria" panose="02040503050406030204" pitchFamily="18" charset="0"/>
                <a:ea typeface="Cambria" panose="02040503050406030204" pitchFamily="18" charset="0"/>
              </a:rPr>
              <a:t>Result</a:t>
            </a: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a:latin typeface="Cambria" panose="02040503050406030204" pitchFamily="18" charset="0"/>
                <a:ea typeface="Cambria" panose="02040503050406030204" pitchFamily="18" charset="0"/>
              </a:rPr>
              <a:t>References</a:t>
            </a: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a:latin typeface="Cambria"/>
                <a:ea typeface="Cambria"/>
              </a:rPr>
              <a:t>Problem Statement</a:t>
            </a:r>
            <a:endParaRPr>
              <a:latin typeface="Cambria"/>
              <a:ea typeface="Cambria"/>
            </a:endParaRPr>
          </a:p>
        </p:txBody>
      </p:sp>
      <p:sp>
        <p:nvSpPr>
          <p:cNvPr id="97" name="Google Shape;97;p14"/>
          <p:cNvSpPr txBox="1">
            <a:spLocks noGrp="1"/>
          </p:cNvSpPr>
          <p:nvPr>
            <p:ph type="body" idx="1"/>
          </p:nvPr>
        </p:nvSpPr>
        <p:spPr>
          <a:xfrm>
            <a:off x="812800" y="1143000"/>
            <a:ext cx="10668000" cy="5431155"/>
          </a:xfrm>
          <a:prstGeom prst="rect">
            <a:avLst/>
          </a:prstGeom>
          <a:noFill/>
          <a:ln>
            <a:noFill/>
          </a:ln>
        </p:spPr>
        <p:txBody>
          <a:bodyPr spcFirstLastPara="1" wrap="square" lIns="91425" tIns="45700" rIns="91425" bIns="45700" anchor="t" anchorCtr="0">
            <a:normAutofit fontScale="82500"/>
          </a:bodyPr>
          <a:lstStyle/>
          <a:p>
            <a:pPr marL="342900" indent="-190500">
              <a:lnSpc>
                <a:spcPct val="170000"/>
              </a:lnSpc>
              <a:spcBef>
                <a:spcPts val="0"/>
              </a:spcBef>
              <a:buNone/>
            </a:pPr>
            <a:r>
              <a:rPr lang="en-US" b="1" dirty="0">
                <a:latin typeface="Cambria"/>
                <a:ea typeface="Cambria"/>
              </a:rPr>
              <a:t>Problem Statement Number:</a:t>
            </a:r>
            <a:r>
              <a:rPr lang="en-US" dirty="0">
                <a:latin typeface="Cambria"/>
                <a:ea typeface="Cambria"/>
              </a:rPr>
              <a:t> PSCS_32</a:t>
            </a:r>
            <a:endParaRPr lang="en-US" dirty="0"/>
          </a:p>
          <a:p>
            <a:pPr marL="342900" indent="-190500">
              <a:lnSpc>
                <a:spcPct val="170000"/>
              </a:lnSpc>
              <a:spcBef>
                <a:spcPts val="0"/>
              </a:spcBef>
              <a:buNone/>
            </a:pPr>
            <a:r>
              <a:rPr lang="en-US" b="1" dirty="0">
                <a:latin typeface="Cambria"/>
                <a:ea typeface="Cambria"/>
              </a:rPr>
              <a:t>Organization:</a:t>
            </a:r>
            <a:r>
              <a:rPr lang="en-US" dirty="0">
                <a:latin typeface="Cambria"/>
                <a:ea typeface="Cambria"/>
              </a:rPr>
              <a:t> Government of Kerala</a:t>
            </a:r>
            <a:endParaRPr lang="en-US" dirty="0">
              <a:latin typeface="Cambria"/>
            </a:endParaRPr>
          </a:p>
          <a:p>
            <a:pPr marL="342900" indent="-190500">
              <a:lnSpc>
                <a:spcPct val="170000"/>
              </a:lnSpc>
              <a:spcBef>
                <a:spcPts val="0"/>
              </a:spcBef>
              <a:buNone/>
            </a:pPr>
            <a:r>
              <a:rPr lang="en-US" b="1" dirty="0">
                <a:latin typeface="Cambria"/>
                <a:ea typeface="Cambria"/>
              </a:rPr>
              <a:t>Category: </a:t>
            </a:r>
            <a:r>
              <a:rPr lang="en-US" dirty="0">
                <a:latin typeface="Cambria"/>
                <a:ea typeface="Cambria"/>
              </a:rPr>
              <a:t>Software </a:t>
            </a:r>
            <a:endParaRPr lang="en-US"/>
          </a:p>
          <a:p>
            <a:pPr marL="342900" indent="-190500">
              <a:lnSpc>
                <a:spcPct val="170000"/>
              </a:lnSpc>
              <a:spcBef>
                <a:spcPts val="0"/>
              </a:spcBef>
              <a:buNone/>
            </a:pPr>
            <a:r>
              <a:rPr lang="en-US" b="1" dirty="0">
                <a:latin typeface="Cambria"/>
                <a:ea typeface="Cambria"/>
              </a:rPr>
              <a:t>Problem Description:</a:t>
            </a:r>
            <a:r>
              <a:rPr lang="en-US" dirty="0">
                <a:latin typeface="Cambria"/>
                <a:ea typeface="Cambria"/>
              </a:rPr>
              <a:t> Ideate and implement a system to enhance the quality of education in rural areas.</a:t>
            </a:r>
            <a:endParaRPr lang="en-US" dirty="0"/>
          </a:p>
          <a:p>
            <a:pPr marL="342900" indent="-190500">
              <a:lnSpc>
                <a:spcPct val="170000"/>
              </a:lnSpc>
              <a:spcBef>
                <a:spcPts val="0"/>
              </a:spcBef>
              <a:buNone/>
            </a:pPr>
            <a:r>
              <a:rPr lang="en-US" dirty="0">
                <a:latin typeface="Cambria"/>
                <a:ea typeface="Cambria"/>
              </a:rPr>
              <a:t>The aim of the system should not only focus on increasing the literacy rate but also</a:t>
            </a:r>
            <a:endParaRPr lang="en-US" dirty="0">
              <a:latin typeface="Cambria"/>
              <a:ea typeface="Cambria"/>
            </a:endParaRPr>
          </a:p>
          <a:p>
            <a:pPr marL="342900" indent="-190500">
              <a:lnSpc>
                <a:spcPct val="170000"/>
              </a:lnSpc>
              <a:spcBef>
                <a:spcPts val="0"/>
              </a:spcBef>
              <a:buNone/>
            </a:pPr>
            <a:r>
              <a:rPr lang="en-US" dirty="0">
                <a:latin typeface="Cambria"/>
                <a:ea typeface="Cambria"/>
              </a:rPr>
              <a:t>should assist to elevate the communication skills and knowledge of the targeted</a:t>
            </a:r>
            <a:endParaRPr lang="en-US" dirty="0"/>
          </a:p>
          <a:p>
            <a:pPr marL="342900" indent="-190500">
              <a:lnSpc>
                <a:spcPct val="170000"/>
              </a:lnSpc>
              <a:spcBef>
                <a:spcPts val="0"/>
              </a:spcBef>
              <a:buNone/>
            </a:pPr>
            <a:r>
              <a:rPr lang="en-US" dirty="0">
                <a:latin typeface="Cambria"/>
                <a:ea typeface="Cambria"/>
              </a:rPr>
              <a:t>society.</a:t>
            </a:r>
            <a:endParaRPr lang="en-US" dirty="0"/>
          </a:p>
          <a:p>
            <a:pPr marL="342900" indent="-190500">
              <a:lnSpc>
                <a:spcPct val="170000"/>
              </a:lnSpc>
              <a:spcBef>
                <a:spcPts val="0"/>
              </a:spcBef>
              <a:buNone/>
            </a:pPr>
            <a:endParaRPr lang="en-US" dirty="0">
              <a:latin typeface="Cambria"/>
              <a:ea typeface="Cambria"/>
            </a:endParaRPr>
          </a:p>
          <a:p>
            <a:pPr marL="0" indent="0">
              <a:lnSpc>
                <a:spcPct val="170000"/>
              </a:lnSpc>
              <a:buNone/>
            </a:pPr>
            <a:endParaRPr lang="en-US" dirty="0"/>
          </a:p>
          <a:p>
            <a:pPr marL="342900" indent="-190500" algn="just">
              <a:lnSpc>
                <a:spcPct val="170000"/>
              </a:lnSpc>
              <a:spcBef>
                <a:spcPts val="0"/>
              </a:spcBef>
              <a:buNone/>
            </a:pPr>
            <a:endParaRPr lang="en-US" dirty="0">
              <a:latin typeface="Cambria" panose="02040503050406030204" pitchFamily="18" charset="0"/>
              <a:ea typeface="Cambria" panose="02040503050406030204" pitchFamily="18" charset="0"/>
            </a:endParaRPr>
          </a:p>
          <a:p>
            <a:pPr marL="342900" indent="-190500" algn="just">
              <a:lnSpc>
                <a:spcPct val="170000"/>
              </a:lnSpc>
              <a:spcBef>
                <a:spcPts val="0"/>
              </a:spcBef>
              <a:buNone/>
            </a:pPr>
            <a:endParaRPr lang="en-US" dirty="0">
              <a:latin typeface="Cambria" panose="02040503050406030204" pitchFamily="18" charset="0"/>
              <a:ea typeface="Cambria" panose="02040503050406030204" pitchFamily="18" charset="0"/>
            </a:endParaRPr>
          </a:p>
          <a:p>
            <a:pPr marL="342900" indent="-190500" algn="just">
              <a:lnSpc>
                <a:spcPct val="170000"/>
              </a:lnSpc>
              <a:spcBef>
                <a:spcPts val="0"/>
              </a:spcBef>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Objectives</a:t>
            </a:r>
            <a:endParaRPr lang="en-US"/>
          </a:p>
        </p:txBody>
      </p:sp>
      <p:sp>
        <p:nvSpPr>
          <p:cNvPr id="3" name="Text Placeholder 2"/>
          <p:cNvSpPr>
            <a:spLocks noGrp="1"/>
          </p:cNvSpPr>
          <p:nvPr>
            <p:ph type="body" idx="1"/>
          </p:nvPr>
        </p:nvSpPr>
        <p:spPr/>
        <p:txBody>
          <a:bodyPr>
            <a:normAutofit fontScale="80000"/>
          </a:bodyPr>
          <a:lstStyle/>
          <a:p>
            <a:pPr marL="285750" indent="-285750">
              <a:lnSpc>
                <a:spcPct val="150000"/>
              </a:lnSpc>
            </a:pPr>
            <a:r>
              <a:rPr lang="en-US" dirty="0">
                <a:latin typeface="Cambria"/>
              </a:rPr>
              <a:t>Provide study materials in local languages for rural students to make learning inclusive and accessible across linguistic backgrounds.</a:t>
            </a:r>
            <a:endParaRPr lang="en-US" dirty="0">
              <a:latin typeface="Cambria"/>
            </a:endParaRPr>
          </a:p>
          <a:p>
            <a:pPr marL="285750" indent="-285750">
              <a:lnSpc>
                <a:spcPct val="150000"/>
              </a:lnSpc>
            </a:pPr>
            <a:r>
              <a:rPr lang="en-US" dirty="0">
                <a:latin typeface="Cambria"/>
              </a:rPr>
              <a:t>Track each student’s learning progress and skills to enable personalized academic support and monitoring.</a:t>
            </a:r>
            <a:endParaRPr lang="en-US" dirty="0">
              <a:latin typeface="Cambria"/>
            </a:endParaRPr>
          </a:p>
          <a:p>
            <a:pPr marL="285750" indent="-285750">
              <a:lnSpc>
                <a:spcPct val="150000"/>
              </a:lnSpc>
            </a:pPr>
            <a:r>
              <a:rPr lang="en-US" dirty="0">
                <a:latin typeface="Cambria"/>
              </a:rPr>
              <a:t>Share information about scholarships, grants, and job opportunities to guide learners toward educational and career advancement.</a:t>
            </a:r>
            <a:endParaRPr lang="en-US" dirty="0">
              <a:latin typeface="Cambria"/>
            </a:endParaRPr>
          </a:p>
          <a:p>
            <a:pPr marL="285750" indent="-285750">
              <a:lnSpc>
                <a:spcPct val="150000"/>
              </a:lnSpc>
            </a:pPr>
            <a:r>
              <a:rPr lang="en-US" dirty="0">
                <a:latin typeface="Cambria"/>
              </a:rPr>
              <a:t>Offer a multilingual chatbot capable of understanding and responding to study-related queries in the user’s preferred language using rule-based NLP and custom language detection logic, thereby providing automated mentorship and real-time assistance.</a:t>
            </a:r>
            <a:endParaRPr lang="en-US" dirty="0">
              <a:latin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Background and Related work</a:t>
            </a:r>
            <a:endParaRPr lang="en-US"/>
          </a:p>
        </p:txBody>
      </p:sp>
      <p:sp>
        <p:nvSpPr>
          <p:cNvPr id="3" name="Text Placeholder 2"/>
          <p:cNvSpPr>
            <a:spLocks noGrp="1"/>
          </p:cNvSpPr>
          <p:nvPr>
            <p:ph type="body" idx="1"/>
          </p:nvPr>
        </p:nvSpPr>
        <p:spPr/>
        <p:txBody>
          <a:bodyPr>
            <a:normAutofit/>
          </a:bodyPr>
          <a:lstStyle/>
          <a:p>
            <a:pPr algn="just"/>
            <a:r>
              <a:rPr lang="en-US" sz="1700" dirty="0">
                <a:latin typeface="Cambria"/>
              </a:rPr>
              <a:t>In India, several government and non-government initiatives have tried to improve rural education. The </a:t>
            </a:r>
            <a:r>
              <a:rPr lang="en-US" sz="1700" b="1" dirty="0">
                <a:latin typeface="Cambria"/>
              </a:rPr>
              <a:t>Diksha</a:t>
            </a:r>
            <a:r>
              <a:rPr lang="en-US" sz="1700" dirty="0">
                <a:latin typeface="Cambria"/>
              </a:rPr>
              <a:t> platform offers free digital content for students and teachers, and </a:t>
            </a:r>
            <a:r>
              <a:rPr lang="en-US" sz="1700" b="1" dirty="0">
                <a:latin typeface="Cambria"/>
              </a:rPr>
              <a:t>SWAYAM</a:t>
            </a:r>
            <a:r>
              <a:rPr lang="en-US" sz="1700" dirty="0">
                <a:latin typeface="Cambria"/>
              </a:rPr>
              <a:t> provides online courses from top institutions. While these platforms are valuable, they depend on good internet connectivity and are often limited to a few languages, making them less effective in remote rural areas.</a:t>
            </a:r>
            <a:endParaRPr lang="en-US" sz="1700"/>
          </a:p>
          <a:p>
            <a:pPr algn="just"/>
            <a:r>
              <a:rPr lang="en-US" sz="1700" dirty="0">
                <a:latin typeface="Cambria"/>
                <a:ea typeface="Cambria"/>
              </a:rPr>
              <a:t>A national review by ITU indicates that even though digital tools and local content help, </a:t>
            </a:r>
            <a:r>
              <a:rPr lang="en-US" sz="1700" err="1">
                <a:latin typeface="Cambria"/>
                <a:ea typeface="Cambria"/>
              </a:rPr>
              <a:t>manyrural</a:t>
            </a:r>
            <a:r>
              <a:rPr lang="en-US" sz="1700" dirty="0">
                <a:latin typeface="Cambria"/>
                <a:ea typeface="Cambria"/>
              </a:rPr>
              <a:t> areas still struggle with connectivity, language barriers, and teacher training. </a:t>
            </a:r>
            <a:endParaRPr lang="en-US" sz="1700" dirty="0">
              <a:latin typeface="Cambria"/>
            </a:endParaRPr>
          </a:p>
          <a:p>
            <a:pPr algn="just"/>
            <a:r>
              <a:rPr lang="en-US" sz="1700" dirty="0">
                <a:latin typeface="Cambria"/>
              </a:rPr>
              <a:t>NGOs such as </a:t>
            </a:r>
            <a:r>
              <a:rPr lang="en-US" sz="1700" b="1" dirty="0">
                <a:latin typeface="Cambria"/>
              </a:rPr>
              <a:t>Pratham</a:t>
            </a:r>
            <a:r>
              <a:rPr lang="en-US" sz="1700" dirty="0">
                <a:latin typeface="Cambria"/>
              </a:rPr>
              <a:t> have worked to improve literacy rates through community-based programs, and </a:t>
            </a:r>
            <a:r>
              <a:rPr lang="en-US" sz="1700" b="1" dirty="0">
                <a:latin typeface="Cambria"/>
              </a:rPr>
              <a:t>Room to Read India</a:t>
            </a:r>
            <a:r>
              <a:rPr lang="en-US" sz="1700" dirty="0">
                <a:latin typeface="Cambria"/>
              </a:rPr>
              <a:t> has focused on enhancing reading skills and building school libraries. These efforts have made progress in increasing enrolment and basic literacy, but many rural students still struggle to access personalized learning, continuous mentorship, and career-related resources.</a:t>
            </a:r>
            <a:endParaRPr lang="en-US" sz="1700" dirty="0">
              <a:latin typeface="Cambria"/>
            </a:endParaRPr>
          </a:p>
          <a:p>
            <a:pPr algn="just"/>
            <a:r>
              <a:rPr lang="en-US" sz="1700" dirty="0">
                <a:latin typeface="Cambria"/>
              </a:rPr>
              <a:t>Government schemes like </a:t>
            </a:r>
            <a:r>
              <a:rPr lang="en-US" sz="1700" b="1" err="1">
                <a:latin typeface="Cambria"/>
              </a:rPr>
              <a:t>Samagra</a:t>
            </a:r>
            <a:r>
              <a:rPr lang="en-US" sz="1700" b="1" dirty="0">
                <a:latin typeface="Cambria"/>
              </a:rPr>
              <a:t> Shiksha Abhiyan</a:t>
            </a:r>
            <a:r>
              <a:rPr lang="en-US" sz="1700" dirty="0">
                <a:latin typeface="Cambria"/>
              </a:rPr>
              <a:t> and </a:t>
            </a:r>
            <a:r>
              <a:rPr lang="en-US" sz="1700" b="1" dirty="0">
                <a:latin typeface="Cambria"/>
              </a:rPr>
              <a:t>PM e-Vidya</a:t>
            </a:r>
            <a:r>
              <a:rPr lang="en-US" sz="1700" dirty="0">
                <a:latin typeface="Cambria"/>
              </a:rPr>
              <a:t> aim to strengthen school infrastructure and promote digital education, yet gaps remain in implementation, especially in areas with low internet speed, poor teacher training, and lack of local-language learning materials.</a:t>
            </a:r>
            <a:endParaRPr lang="en-US" sz="1700" dirty="0">
              <a:latin typeface="Cambria"/>
            </a:endParaRPr>
          </a:p>
          <a:p>
            <a:pPr algn="just"/>
            <a:r>
              <a:rPr lang="en-US" sz="1700" dirty="0">
                <a:latin typeface="Cambria"/>
              </a:rPr>
              <a:t>Our project builds on these efforts by combining multiple features like digital learning resources in local languages, mentorship, progress tracking, and access to scholarships and job opportunities into a single platform designed specifically for rural learners in India.</a:t>
            </a:r>
            <a:endParaRPr lang="en-US" sz="1700" dirty="0">
              <a:latin typeface="Cambria"/>
            </a:endParaRPr>
          </a:p>
          <a:p>
            <a:pPr algn="just"/>
            <a:endParaRPr lang="en-US" sz="1700" dirty="0">
              <a:latin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 and Related work(contd...)</a:t>
            </a:r>
            <a:endParaRPr lang="en-US" b="0" dirty="0">
              <a:solidFill>
                <a:srgbClr val="000000"/>
              </a:solidFill>
            </a:endParaRPr>
          </a:p>
        </p:txBody>
      </p:sp>
      <p:graphicFrame>
        <p:nvGraphicFramePr>
          <p:cNvPr id="5" name="Table 4"/>
          <p:cNvGraphicFramePr>
            <a:graphicFrameLocks noGrp="1"/>
          </p:cNvGraphicFramePr>
          <p:nvPr/>
        </p:nvGraphicFramePr>
        <p:xfrm>
          <a:off x="333375" y="993321"/>
          <a:ext cx="11520126" cy="4745765"/>
        </p:xfrm>
        <a:graphic>
          <a:graphicData uri="http://schemas.openxmlformats.org/drawingml/2006/table">
            <a:tbl>
              <a:tblPr bandRow="1"/>
              <a:tblGrid>
                <a:gridCol w="2326100"/>
                <a:gridCol w="884244"/>
                <a:gridCol w="2797721"/>
                <a:gridCol w="2820734"/>
                <a:gridCol w="2691327"/>
              </a:tblGrid>
              <a:tr h="427789">
                <a:tc>
                  <a:txBody>
                    <a:bodyPr/>
                    <a:lstStyle/>
                    <a:p>
                      <a:pPr lvl="0" algn="ctr" rtl="0">
                        <a:lnSpc>
                          <a:spcPts val="610"/>
                        </a:lnSpc>
                        <a:buNone/>
                      </a:pPr>
                      <a:endParaRPr lang="en-US" sz="1400" b="1" dirty="0">
                        <a:effectLst/>
                        <a:latin typeface="Cambria"/>
                      </a:endParaRPr>
                    </a:p>
                    <a:p>
                      <a:pPr lvl="0" algn="ctr">
                        <a:lnSpc>
                          <a:spcPts val="610"/>
                        </a:lnSpc>
                        <a:buNone/>
                      </a:pPr>
                      <a:r>
                        <a:rPr lang="en-US" sz="1400" b="1" dirty="0">
                          <a:effectLst/>
                          <a:latin typeface="Cambria"/>
                        </a:rPr>
                        <a:t>AUTHOR</a:t>
                      </a:r>
                      <a:endParaRPr lang="en-US" b="1">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610"/>
                        </a:lnSpc>
                        <a:buNone/>
                      </a:pPr>
                      <a:endParaRPr lang="en-US" sz="1400" b="1" dirty="0">
                        <a:effectLst/>
                        <a:latin typeface="Cambria"/>
                      </a:endParaRPr>
                    </a:p>
                    <a:p>
                      <a:pPr lvl="0" algn="ctr">
                        <a:lnSpc>
                          <a:spcPts val="610"/>
                        </a:lnSpc>
                        <a:buNone/>
                      </a:pPr>
                      <a:r>
                        <a:rPr lang="en-US" sz="1400" b="1" dirty="0">
                          <a:effectLst/>
                          <a:latin typeface="Cambria"/>
                        </a:rPr>
                        <a:t>YEAR</a:t>
                      </a:r>
                      <a:endParaRPr lang="en-US" b="1">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610"/>
                        </a:lnSpc>
                        <a:buNone/>
                      </a:pPr>
                      <a:endParaRPr lang="en-US" sz="1400" b="1" dirty="0">
                        <a:effectLst/>
                        <a:latin typeface="Cambria"/>
                      </a:endParaRPr>
                    </a:p>
                    <a:p>
                      <a:pPr lvl="0" algn="ctr">
                        <a:lnSpc>
                          <a:spcPts val="610"/>
                        </a:lnSpc>
                        <a:buNone/>
                      </a:pPr>
                      <a:r>
                        <a:rPr lang="en-US" sz="1400" b="1" dirty="0">
                          <a:effectLst/>
                          <a:latin typeface="Cambria"/>
                        </a:rPr>
                        <a:t>TITLE</a:t>
                      </a:r>
                      <a:endParaRPr lang="en-US" b="1">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610"/>
                        </a:lnSpc>
                        <a:buNone/>
                      </a:pPr>
                      <a:endParaRPr lang="en-US" sz="1400" b="1" dirty="0">
                        <a:effectLst/>
                        <a:latin typeface="Cambria"/>
                      </a:endParaRPr>
                    </a:p>
                    <a:p>
                      <a:pPr lvl="0" algn="ctr">
                        <a:lnSpc>
                          <a:spcPts val="610"/>
                        </a:lnSpc>
                        <a:buNone/>
                      </a:pPr>
                      <a:r>
                        <a:rPr lang="en-US" sz="1400" b="1" dirty="0">
                          <a:effectLst/>
                          <a:latin typeface="Cambria"/>
                        </a:rPr>
                        <a:t>METHODOLOGY</a:t>
                      </a:r>
                      <a:endParaRPr lang="en-US" b="1">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610"/>
                        </a:lnSpc>
                        <a:buNone/>
                      </a:pPr>
                      <a:endParaRPr lang="en-US" sz="1400" b="1" dirty="0">
                        <a:effectLst/>
                        <a:latin typeface="Cambria"/>
                      </a:endParaRPr>
                    </a:p>
                    <a:p>
                      <a:pPr lvl="0" algn="ctr">
                        <a:lnSpc>
                          <a:spcPts val="610"/>
                        </a:lnSpc>
                        <a:buNone/>
                      </a:pPr>
                      <a:r>
                        <a:rPr lang="en-US" sz="1400" b="1" dirty="0">
                          <a:effectLst/>
                          <a:latin typeface="Cambria"/>
                        </a:rPr>
                        <a:t>INFERENCE</a:t>
                      </a:r>
                      <a:endParaRPr lang="en-US" b="1">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815473">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Ojat </a:t>
                      </a:r>
                      <a:r>
                        <a:rPr lang="en-US" sz="1400" b="0" dirty="0" err="1">
                          <a:effectLst/>
                          <a:latin typeface="Cambria"/>
                        </a:rPr>
                        <a:t>Darojat</a:t>
                      </a:r>
                      <a:r>
                        <a:rPr lang="en-US" sz="1400" b="0" dirty="0">
                          <a:effectLst/>
                          <a:latin typeface="Cambria"/>
                        </a:rPr>
                        <a:t>, Ajat </a:t>
                      </a:r>
                      <a:r>
                        <a:rPr lang="en-US" sz="1400" b="0" dirty="0" err="1">
                          <a:effectLst/>
                          <a:latin typeface="Cambria"/>
                        </a:rPr>
                        <a:t>Sudrajat</a:t>
                      </a:r>
                      <a:r>
                        <a:rPr lang="en-US" sz="1400" b="0" dirty="0">
                          <a:effectLst/>
                          <a:latin typeface="Cambria"/>
                        </a:rPr>
                        <a:t>, </a:t>
                      </a:r>
                      <a:r>
                        <a:rPr lang="en-US" sz="1400" b="0" dirty="0" err="1">
                          <a:effectLst/>
                          <a:latin typeface="Cambria"/>
                        </a:rPr>
                        <a:t>Darsiharjo</a:t>
                      </a:r>
                      <a:r>
                        <a:rPr lang="en-US" sz="1400" b="0" dirty="0">
                          <a:effectLst/>
                          <a:latin typeface="Cambria"/>
                        </a:rPr>
                        <a:t>, Lisa Dwi </a:t>
                      </a:r>
                      <a:r>
                        <a:rPr lang="en-US" sz="1400" b="0" dirty="0" err="1">
                          <a:effectLst/>
                          <a:latin typeface="Cambria"/>
                        </a:rPr>
                        <a:t>Ningtyas</a:t>
                      </a:r>
                      <a:r>
                        <a:rPr lang="en-US" sz="1400" b="0" dirty="0">
                          <a:effectLst/>
                          <a:latin typeface="Cambria"/>
                        </a:rPr>
                        <a:t>, Cecep </a:t>
                      </a:r>
                      <a:r>
                        <a:rPr lang="en-US" sz="1400" b="0" dirty="0" err="1">
                          <a:effectLst/>
                          <a:latin typeface="Cambria"/>
                        </a:rPr>
                        <a:t>Kustandi</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2025</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535"/>
                        </a:lnSpc>
                        <a:buNone/>
                      </a:pPr>
                      <a:endParaRPr lang="en-US" sz="1400" b="0" dirty="0">
                        <a:effectLst/>
                        <a:latin typeface="Cambria"/>
                      </a:endParaRPr>
                    </a:p>
                    <a:p>
                      <a:pPr lvl="0">
                        <a:lnSpc>
                          <a:spcPts val="535"/>
                        </a:lnSpc>
                        <a:buNone/>
                      </a:pPr>
                      <a:endParaRPr lang="en-US" sz="1400" b="0" dirty="0">
                        <a:effectLst/>
                        <a:latin typeface="Cambria"/>
                      </a:endParaRPr>
                    </a:p>
                    <a:p>
                      <a:pPr lvl="0">
                        <a:lnSpc>
                          <a:spcPts val="535"/>
                        </a:lnSpc>
                        <a:buNone/>
                      </a:pPr>
                      <a:r>
                        <a:rPr lang="en-US" sz="1400" b="0" dirty="0">
                          <a:effectLst/>
                          <a:latin typeface="Cambria"/>
                        </a:rPr>
                        <a:t>Learning Media Use in Rural</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535"/>
                        </a:lnSpc>
                        <a:buNone/>
                      </a:pPr>
                      <a:endParaRPr lang="en-US" sz="1400" b="0" dirty="0">
                        <a:effectLst/>
                        <a:latin typeface="Cambria"/>
                      </a:endParaRPr>
                    </a:p>
                    <a:p>
                      <a:pPr lvl="0">
                        <a:lnSpc>
                          <a:spcPts val="535"/>
                        </a:lnSpc>
                        <a:buNone/>
                      </a:pPr>
                      <a:r>
                        <a:rPr lang="en-US" sz="1400" b="0" dirty="0">
                          <a:effectLst/>
                          <a:latin typeface="Cambria"/>
                        </a:rPr>
                        <a:t>Mixed-method, GWT ANOVA</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Flipped classroom w/ downloads best for low connectivity.</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895683">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Ayesha Zulfiqar, Muhammad Bilal, Muhammad Nadeem Iqbal</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2024</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535"/>
                        </a:lnSpc>
                        <a:buNone/>
                      </a:pPr>
                      <a:endParaRPr lang="en-US" sz="1400" b="0" dirty="0">
                        <a:effectLst/>
                        <a:latin typeface="Cambria"/>
                      </a:endParaRPr>
                    </a:p>
                    <a:p>
                      <a:pPr lvl="0">
                        <a:lnSpc>
                          <a:spcPts val="535"/>
                        </a:lnSpc>
                        <a:buNone/>
                      </a:pPr>
                      <a:r>
                        <a:rPr lang="en-US" sz="1400" b="0" dirty="0">
                          <a:effectLst/>
                          <a:latin typeface="Cambria"/>
                        </a:rPr>
                        <a:t>Factors Affecting Rural Schools</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535"/>
                        </a:lnSpc>
                        <a:buNone/>
                      </a:pPr>
                      <a:endParaRPr lang="en-US" sz="1400" b="0" dirty="0">
                        <a:effectLst/>
                        <a:latin typeface="Cambria"/>
                      </a:endParaRPr>
                    </a:p>
                    <a:p>
                      <a:pPr lvl="0">
                        <a:lnSpc>
                          <a:spcPts val="535"/>
                        </a:lnSpc>
                        <a:buNone/>
                      </a:pPr>
                      <a:r>
                        <a:rPr lang="en-US" sz="1400" b="0" dirty="0">
                          <a:effectLst/>
                          <a:latin typeface="Cambria"/>
                        </a:rPr>
                        <a:t>Quantitative survey</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Facilities, teaching quality, poverty strongly impact outcomes.</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681780">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Chaoyang Wang</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2024</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Rural Edu. Reform</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Policy &amp; case analysis</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Focus: student autonomy, teacher training, infrastructure.</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681780">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Radhika Kapur</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2024</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Education in Rural India</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Qualitative descriptive</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Fix infra, recruit teachers, improve methods/resources.</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1243260">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K.S. Suryanarayana, V.S. Prasad Kandi, G. Pavani, </a:t>
                      </a:r>
                      <a:r>
                        <a:rPr lang="en-US" sz="1400" b="0" dirty="0" err="1">
                          <a:effectLst/>
                          <a:latin typeface="Cambria"/>
                        </a:rPr>
                        <a:t>Akuthota</a:t>
                      </a:r>
                      <a:r>
                        <a:rPr lang="en-US" sz="1400" b="0" dirty="0">
                          <a:effectLst/>
                          <a:latin typeface="Cambria"/>
                        </a:rPr>
                        <a:t> Sankar Rao, Sandeep Rout, T. Siva Rama Krishna</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2024</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AI-Enhanced Learning </a:t>
                      </a:r>
                      <a:r>
                        <a:rPr lang="en-US" sz="1400" b="0" dirty="0" err="1">
                          <a:effectLst/>
                          <a:latin typeface="Cambria"/>
                        </a:rPr>
                        <a:t>Mgmt</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AI system design</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Personalized learning, analytics aid sustainability; privacy concerns.</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 and Related work(contd...)</a:t>
            </a:r>
            <a:endParaRPr lang="en-US" dirty="0"/>
          </a:p>
        </p:txBody>
      </p:sp>
      <p:graphicFrame>
        <p:nvGraphicFramePr>
          <p:cNvPr id="5" name="Table 4"/>
          <p:cNvGraphicFramePr>
            <a:graphicFrameLocks noGrp="1"/>
          </p:cNvGraphicFramePr>
          <p:nvPr/>
        </p:nvGraphicFramePr>
        <p:xfrm>
          <a:off x="403193" y="1089532"/>
          <a:ext cx="11492560" cy="4095085"/>
        </p:xfrm>
        <a:graphic>
          <a:graphicData uri="http://schemas.openxmlformats.org/drawingml/2006/table">
            <a:tbl>
              <a:tblPr bandRow="1"/>
              <a:tblGrid>
                <a:gridCol w="2298516"/>
                <a:gridCol w="884253"/>
                <a:gridCol w="2797721"/>
                <a:gridCol w="3213554"/>
                <a:gridCol w="2298516"/>
              </a:tblGrid>
              <a:tr h="351985">
                <a:tc>
                  <a:txBody>
                    <a:bodyPr/>
                    <a:lstStyle/>
                    <a:p>
                      <a:pPr algn="ctr" rtl="0" fontAlgn="base">
                        <a:lnSpc>
                          <a:spcPts val="1200"/>
                        </a:lnSpc>
                        <a:buNone/>
                      </a:pPr>
                      <a:r>
                        <a:rPr lang="en-US" sz="1400" b="1" i="0" u="none" strike="noStrike" dirty="0">
                          <a:solidFill>
                            <a:srgbClr val="000000"/>
                          </a:solidFill>
                          <a:effectLst/>
                          <a:latin typeface="Cambria"/>
                        </a:rPr>
                        <a:t>AUTHOR</a:t>
                      </a:r>
                      <a:endParaRPr lang="en-US" b="1"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i="0" u="none" strike="noStrike" dirty="0">
                          <a:solidFill>
                            <a:srgbClr val="000000"/>
                          </a:solidFill>
                          <a:effectLst/>
                          <a:latin typeface="Cambria"/>
                        </a:rPr>
                        <a:t>YEAR</a:t>
                      </a:r>
                      <a:endParaRPr lang="en-US" b="1"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i="0" u="none" strike="noStrike" dirty="0">
                          <a:solidFill>
                            <a:srgbClr val="000000"/>
                          </a:solidFill>
                          <a:effectLst/>
                          <a:latin typeface="Cambria"/>
                        </a:rPr>
                        <a:t>TITLE</a:t>
                      </a:r>
                      <a:endParaRPr lang="en-US" b="1"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i="0" u="none" strike="noStrike" dirty="0">
                          <a:solidFill>
                            <a:srgbClr val="000000"/>
                          </a:solidFill>
                          <a:effectLst/>
                          <a:latin typeface="Cambria"/>
                        </a:rPr>
                        <a:t>METHODOLOGY</a:t>
                      </a:r>
                      <a:endParaRPr lang="en-US" b="1"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i="0" u="none" strike="noStrike" dirty="0">
                          <a:solidFill>
                            <a:srgbClr val="000000"/>
                          </a:solidFill>
                          <a:effectLst/>
                          <a:latin typeface="Cambria"/>
                        </a:rPr>
                        <a:t>INFERENCE</a:t>
                      </a:r>
                      <a:endParaRPr lang="en-US" b="1"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970995">
                <a:tc>
                  <a:txBody>
                    <a:bodyPr/>
                    <a:lstStyle/>
                    <a:p>
                      <a:pPr lvl="0" algn="l">
                        <a:lnSpc>
                          <a:spcPct val="100000"/>
                        </a:lnSpc>
                        <a:spcBef>
                          <a:spcPts val="0"/>
                        </a:spcBef>
                        <a:spcAft>
                          <a:spcPts val="0"/>
                        </a:spcAft>
                        <a:buNone/>
                      </a:pPr>
                      <a:r>
                        <a:rPr lang="en-US" sz="1100" b="0" i="0" u="none" strike="noStrike" noProof="0" dirty="0">
                          <a:solidFill>
                            <a:srgbClr val="000000"/>
                          </a:solidFill>
                          <a:effectLst/>
                          <a:latin typeface="Cambria"/>
                        </a:rPr>
                        <a:t>Yang Yu, Desmond Appiah, Bernard Zulu, and Kofi Asamoah </a:t>
                      </a:r>
                      <a:r>
                        <a:rPr lang="en-US" sz="1100" b="0" i="0" u="none" strike="noStrike" noProof="0" err="1">
                          <a:solidFill>
                            <a:srgbClr val="000000"/>
                          </a:solidFill>
                          <a:effectLst/>
                          <a:latin typeface="Cambria"/>
                        </a:rPr>
                        <a:t>AduPoku</a:t>
                      </a:r>
                      <a:endParaRPr lang="en-US">
                        <a:latin typeface="Cambria"/>
                      </a:endParaRPr>
                    </a:p>
                    <a:p>
                      <a:pPr lvl="0" algn="l">
                        <a:lnSpc>
                          <a:spcPts val="1050"/>
                        </a:lnSpc>
                        <a:buNone/>
                      </a:pPr>
                      <a:endParaRPr lang="en-US" sz="1200" b="1" i="0" u="none" strike="noStrike" dirty="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200"/>
                        </a:lnSpc>
                        <a:buNone/>
                      </a:pPr>
                      <a:r>
                        <a:rPr lang="en-US" sz="1400" b="0" i="0" u="none" strike="noStrike" dirty="0">
                          <a:solidFill>
                            <a:srgbClr val="000000"/>
                          </a:solidFill>
                          <a:effectLst/>
                          <a:latin typeface="Cambria"/>
                        </a:rPr>
                        <a:t>2024</a:t>
                      </a:r>
                      <a:endParaRPr lang="en-US" b="0"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050"/>
                        </a:lnSpc>
                        <a:buNone/>
                      </a:pPr>
                      <a:r>
                        <a:rPr lang="en-US" sz="1200" b="0" i="0" u="none" strike="noStrike" noProof="0" dirty="0">
                          <a:solidFill>
                            <a:srgbClr val="000000"/>
                          </a:solidFill>
                          <a:effectLst/>
                          <a:latin typeface="Cambria"/>
                        </a:rPr>
                        <a:t>Integrating Rural Dev., Edu. &amp; </a:t>
                      </a:r>
                      <a:r>
                        <a:rPr lang="en-US" sz="1200" b="0" i="0" u="none" strike="noStrike" noProof="0" err="1">
                          <a:solidFill>
                            <a:srgbClr val="000000"/>
                          </a:solidFill>
                          <a:effectLst/>
                          <a:latin typeface="Cambria"/>
                        </a:rPr>
                        <a:t>Mgmt</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050"/>
                        </a:lnSpc>
                        <a:buNone/>
                      </a:pPr>
                      <a:r>
                        <a:rPr lang="en-US" sz="1200" b="0" i="0" u="none" strike="noStrike" noProof="0" dirty="0">
                          <a:solidFill>
                            <a:srgbClr val="000000"/>
                          </a:solidFill>
                          <a:effectLst/>
                          <a:latin typeface="Cambria"/>
                        </a:rPr>
                        <a:t>Literature review</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050"/>
                        </a:lnSpc>
                        <a:buNone/>
                      </a:pPr>
                      <a:r>
                        <a:rPr lang="en-US" sz="1200" b="0" i="0" u="none" strike="noStrike" noProof="0" dirty="0">
                          <a:solidFill>
                            <a:srgbClr val="000000"/>
                          </a:solidFill>
                          <a:effectLst/>
                          <a:latin typeface="Cambria"/>
                        </a:rPr>
                        <a:t>Community participation + tech → sustainable rural development.</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655421">
                <a:tc>
                  <a:txBody>
                    <a:bodyPr/>
                    <a:lstStyle/>
                    <a:p>
                      <a:pPr lvl="0" algn="l">
                        <a:lnSpc>
                          <a:spcPct val="100000"/>
                        </a:lnSpc>
                        <a:spcBef>
                          <a:spcPts val="0"/>
                        </a:spcBef>
                        <a:spcAft>
                          <a:spcPts val="0"/>
                        </a:spcAft>
                        <a:buNone/>
                      </a:pPr>
                      <a:r>
                        <a:rPr lang="en-US" sz="1100" b="0" i="0" u="none" strike="noStrike" noProof="0" dirty="0">
                          <a:solidFill>
                            <a:srgbClr val="000000"/>
                          </a:solidFill>
                          <a:effectLst/>
                          <a:latin typeface="Cambria"/>
                        </a:rPr>
                        <a:t>Xining </a:t>
                      </a:r>
                      <a:r>
                        <a:rPr lang="en-US" sz="1100" b="0" i="0" u="none" strike="noStrike" noProof="0" err="1">
                          <a:solidFill>
                            <a:srgbClr val="000000"/>
                          </a:solidFill>
                          <a:effectLst/>
                          <a:latin typeface="Cambria"/>
                        </a:rPr>
                        <a:t>Wang,Gareth</a:t>
                      </a:r>
                      <a:r>
                        <a:rPr lang="en-US" sz="1100" b="0" i="0" u="none" strike="noStrike" noProof="0" dirty="0">
                          <a:solidFill>
                            <a:srgbClr val="000000"/>
                          </a:solidFill>
                          <a:effectLst/>
                          <a:latin typeface="Cambria"/>
                        </a:rPr>
                        <a:t> W. </a:t>
                      </a:r>
                      <a:r>
                        <a:rPr lang="en-US" sz="1100" b="0" i="0" u="none" strike="noStrike" noProof="0" err="1">
                          <a:solidFill>
                            <a:srgbClr val="000000"/>
                          </a:solidFill>
                          <a:effectLst/>
                          <a:latin typeface="Cambria"/>
                        </a:rPr>
                        <a:t>Young,Muhammad</a:t>
                      </a:r>
                      <a:r>
                        <a:rPr lang="en-US" sz="1100" b="0" i="0" u="none" strike="noStrike" noProof="0" dirty="0">
                          <a:solidFill>
                            <a:srgbClr val="000000"/>
                          </a:solidFill>
                          <a:effectLst/>
                          <a:latin typeface="Cambria"/>
                        </a:rPr>
                        <a:t> Zahid </a:t>
                      </a:r>
                      <a:r>
                        <a:rPr lang="en-US" sz="1100" b="0" i="0" u="none" strike="noStrike" noProof="0" err="1">
                          <a:solidFill>
                            <a:srgbClr val="000000"/>
                          </a:solidFill>
                          <a:effectLst/>
                          <a:latin typeface="Cambria"/>
                        </a:rPr>
                        <a:t>Iqbal,Conor</a:t>
                      </a:r>
                      <a:r>
                        <a:rPr lang="en-US" sz="1100" b="0" i="0" u="none" strike="noStrike" noProof="0" dirty="0">
                          <a:solidFill>
                            <a:srgbClr val="000000"/>
                          </a:solidFill>
                          <a:effectLst/>
                          <a:latin typeface="Cambria"/>
                        </a:rPr>
                        <a:t> Mc Guckin</a:t>
                      </a:r>
                      <a:endParaRPr lang="en-US">
                        <a:latin typeface="Cambria"/>
                      </a:endParaRPr>
                    </a:p>
                    <a:p>
                      <a:pPr lvl="0" algn="l">
                        <a:lnSpc>
                          <a:spcPts val="1050"/>
                        </a:lnSpc>
                        <a:buNone/>
                      </a:pPr>
                      <a:endParaRPr lang="en-US" sz="1200" b="1" i="0" u="none" strike="noStrike" dirty="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200"/>
                        </a:lnSpc>
                        <a:buNone/>
                      </a:pPr>
                      <a:r>
                        <a:rPr lang="en-US" sz="1400" b="0" i="0" u="none" strike="noStrike" dirty="0">
                          <a:solidFill>
                            <a:srgbClr val="000000"/>
                          </a:solidFill>
                          <a:effectLst/>
                          <a:latin typeface="Cambria"/>
                        </a:rPr>
                        <a:t>2024</a:t>
                      </a:r>
                      <a:endParaRPr lang="en-US" b="0"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050"/>
                        </a:lnSpc>
                        <a:buNone/>
                      </a:pPr>
                      <a:r>
                        <a:rPr lang="en-US" sz="1200" b="0" i="0" u="none" strike="noStrike" noProof="0" dirty="0">
                          <a:solidFill>
                            <a:srgbClr val="000000"/>
                          </a:solidFill>
                          <a:effectLst/>
                          <a:latin typeface="Cambria"/>
                        </a:rPr>
                        <a:t>XR in Rural Education</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050"/>
                        </a:lnSpc>
                        <a:buNone/>
                      </a:pPr>
                      <a:r>
                        <a:rPr lang="en-US" sz="1200" b="0" i="0" u="none" strike="noStrike" noProof="0" dirty="0">
                          <a:solidFill>
                            <a:srgbClr val="000000"/>
                          </a:solidFill>
                          <a:effectLst/>
                          <a:latin typeface="Cambria"/>
                        </a:rPr>
                        <a:t>Workshop + focus groups</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050"/>
                        </a:lnSpc>
                        <a:buNone/>
                      </a:pPr>
                      <a:r>
                        <a:rPr lang="en-US" sz="1200" b="0" i="0" u="none" strike="noStrike" noProof="0" dirty="0">
                          <a:solidFill>
                            <a:srgbClr val="000000"/>
                          </a:solidFill>
                          <a:effectLst/>
                          <a:latin typeface="Cambria"/>
                        </a:rPr>
                        <a:t>XR seen as transformative for vocational &amp; contextual learning.</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546184">
                <a:tc>
                  <a:txBody>
                    <a:bodyPr/>
                    <a:lstStyle/>
                    <a:p>
                      <a:pPr lvl="0" algn="l">
                        <a:lnSpc>
                          <a:spcPct val="100000"/>
                        </a:lnSpc>
                        <a:spcBef>
                          <a:spcPts val="0"/>
                        </a:spcBef>
                        <a:spcAft>
                          <a:spcPts val="0"/>
                        </a:spcAft>
                        <a:buNone/>
                      </a:pPr>
                      <a:r>
                        <a:rPr lang="en-US" sz="1200" b="0" i="0" u="none" strike="noStrike" noProof="0" dirty="0">
                          <a:solidFill>
                            <a:srgbClr val="000000"/>
                          </a:solidFill>
                          <a:effectLst/>
                          <a:latin typeface="Cambria"/>
                        </a:rPr>
                        <a:t>Dr. Prem Das Maheshwari</a:t>
                      </a:r>
                      <a:endParaRPr lang="en-US">
                        <a:latin typeface="Cambria"/>
                      </a:endParaRPr>
                    </a:p>
                    <a:p>
                      <a:pPr lvl="0" algn="l">
                        <a:lnSpc>
                          <a:spcPts val="1050"/>
                        </a:lnSpc>
                        <a:buNone/>
                      </a:pPr>
                      <a:endParaRPr lang="en-US" sz="1200" b="1" i="0" u="none" strike="noStrike" dirty="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200"/>
                        </a:lnSpc>
                        <a:buNone/>
                      </a:pPr>
                      <a:r>
                        <a:rPr lang="en-US" sz="1400" b="0" i="0" u="none" strike="noStrike" dirty="0">
                          <a:solidFill>
                            <a:srgbClr val="000000"/>
                          </a:solidFill>
                          <a:effectLst/>
                          <a:latin typeface="Cambria"/>
                        </a:rPr>
                        <a:t>2024</a:t>
                      </a:r>
                      <a:endParaRPr lang="en-US" b="0"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Digital Intervention NEP 2020</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Policy/feature analysis</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Digital infra + local content → bridge rural divide; but poor connectivity persists.</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546184">
                <a:tc>
                  <a:txBody>
                    <a:bodyPr/>
                    <a:lstStyle/>
                    <a:p>
                      <a:pPr lvl="0" algn="l">
                        <a:lnSpc>
                          <a:spcPct val="100000"/>
                        </a:lnSpc>
                        <a:spcBef>
                          <a:spcPts val="0"/>
                        </a:spcBef>
                        <a:spcAft>
                          <a:spcPts val="0"/>
                        </a:spcAft>
                        <a:buNone/>
                      </a:pPr>
                      <a:r>
                        <a:rPr lang="en-US" sz="1200" b="0" i="0" u="none" strike="noStrike" noProof="0" dirty="0">
                          <a:solidFill>
                            <a:srgbClr val="000000"/>
                          </a:solidFill>
                          <a:effectLst/>
                          <a:latin typeface="Cambria"/>
                        </a:rPr>
                        <a:t>Muhammad Tahir Khan Farooqi ,Ishaq Amanat ,Muhammad Awan </a:t>
                      </a:r>
                      <a:endParaRPr lang="en-US">
                        <a:latin typeface="Cambria"/>
                      </a:endParaRPr>
                    </a:p>
                    <a:p>
                      <a:pPr lvl="0" algn="l">
                        <a:lnSpc>
                          <a:spcPts val="1050"/>
                        </a:lnSpc>
                        <a:buNone/>
                      </a:pPr>
                      <a:endParaRPr lang="en-US" sz="1200" b="1" i="0" u="none" strike="noStrike" dirty="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200"/>
                        </a:lnSpc>
                        <a:buNone/>
                      </a:pPr>
                      <a:r>
                        <a:rPr lang="en-US" sz="1400" b="0" i="0" u="none" strike="noStrike" dirty="0">
                          <a:solidFill>
                            <a:srgbClr val="000000"/>
                          </a:solidFill>
                          <a:effectLst/>
                          <a:latin typeface="Cambria"/>
                        </a:rPr>
                        <a:t>2024</a:t>
                      </a:r>
                      <a:endParaRPr lang="en-US" b="0"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AI Ethics in Education</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Systematic review</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AI → privacy risks, teacher resistance; need training &amp; safeguards.</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764657">
                <a:tc>
                  <a:txBody>
                    <a:bodyPr/>
                    <a:lstStyle/>
                    <a:p>
                      <a:pPr lvl="0" algn="l">
                        <a:lnSpc>
                          <a:spcPct val="100000"/>
                        </a:lnSpc>
                        <a:spcBef>
                          <a:spcPts val="0"/>
                        </a:spcBef>
                        <a:spcAft>
                          <a:spcPts val="0"/>
                        </a:spcAft>
                        <a:buNone/>
                      </a:pPr>
                      <a:r>
                        <a:rPr lang="en-US" sz="1100" b="0" i="0" u="none" strike="noStrike" noProof="0" dirty="0">
                          <a:solidFill>
                            <a:srgbClr val="000000"/>
                          </a:solidFill>
                          <a:effectLst/>
                          <a:latin typeface="Cambria"/>
                        </a:rPr>
                        <a:t>Ying Lin, Northern Arizona</a:t>
                      </a:r>
                      <a:endParaRPr lang="en-US">
                        <a:latin typeface="Cambria"/>
                      </a:endParaRPr>
                    </a:p>
                    <a:p>
                      <a:pPr lvl="0" algn="l">
                        <a:lnSpc>
                          <a:spcPts val="1050"/>
                        </a:lnSpc>
                        <a:buNone/>
                      </a:pPr>
                      <a:endParaRPr lang="en-US" sz="1200" b="1" i="0" u="none" strike="noStrike" dirty="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200"/>
                        </a:lnSpc>
                        <a:buNone/>
                      </a:pPr>
                      <a:r>
                        <a:rPr lang="en-US" sz="1400" b="0" i="0" u="none" strike="noStrike" dirty="0">
                          <a:solidFill>
                            <a:srgbClr val="000000"/>
                          </a:solidFill>
                          <a:effectLst/>
                          <a:latin typeface="Cambria"/>
                        </a:rPr>
                        <a:t>2024</a:t>
                      </a:r>
                      <a:endParaRPr lang="en-US" b="0"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Computer Networks in Distance Edu.</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Conceptual analysis</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Strong network infra vital for high-quality distance learning.</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 and Related work(contd...)</a:t>
            </a:r>
            <a:endParaRPr lang="en-US" dirty="0"/>
          </a:p>
        </p:txBody>
      </p:sp>
      <p:graphicFrame>
        <p:nvGraphicFramePr>
          <p:cNvPr id="5" name="Table 4"/>
          <p:cNvGraphicFramePr>
            <a:graphicFrameLocks noGrp="1"/>
          </p:cNvGraphicFramePr>
          <p:nvPr/>
        </p:nvGraphicFramePr>
        <p:xfrm>
          <a:off x="349720" y="1146348"/>
          <a:ext cx="11492560" cy="4593737"/>
        </p:xfrm>
        <a:graphic>
          <a:graphicData uri="http://schemas.openxmlformats.org/drawingml/2006/table">
            <a:tbl>
              <a:tblPr bandRow="1"/>
              <a:tblGrid>
                <a:gridCol w="2298516"/>
                <a:gridCol w="884253"/>
                <a:gridCol w="2797721"/>
                <a:gridCol w="3213554"/>
                <a:gridCol w="2298516"/>
              </a:tblGrid>
              <a:tr h="440937">
                <a:tc>
                  <a:txBody>
                    <a:bodyPr/>
                    <a:lstStyle/>
                    <a:p>
                      <a:pPr lvl="0" algn="ctr" rtl="0">
                        <a:lnSpc>
                          <a:spcPts val="1200"/>
                        </a:lnSpc>
                        <a:buNone/>
                      </a:pPr>
                      <a:r>
                        <a:rPr lang="en-US" sz="1400" b="1" dirty="0">
                          <a:effectLst/>
                          <a:latin typeface="Cambria"/>
                        </a:rPr>
                        <a:t>AUTHOR</a:t>
                      </a:r>
                      <a:endParaRPr lang="en-US" b="1">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dirty="0">
                          <a:effectLst/>
                          <a:latin typeface="Cambria"/>
                        </a:rPr>
                        <a:t>YEAR</a:t>
                      </a:r>
                      <a:endParaRPr lang="en-US" b="1">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dirty="0">
                          <a:effectLst/>
                          <a:latin typeface="Cambria"/>
                        </a:rPr>
                        <a:t>TITLE</a:t>
                      </a:r>
                      <a:endParaRPr lang="en-US" b="1">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dirty="0">
                          <a:effectLst/>
                          <a:latin typeface="Cambria"/>
                        </a:rPr>
                        <a:t>METHODOLOGY</a:t>
                      </a:r>
                      <a:endParaRPr lang="en-US" b="1">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dirty="0">
                          <a:effectLst/>
                          <a:latin typeface="Cambria"/>
                        </a:rPr>
                        <a:t>INFERENCE</a:t>
                      </a:r>
                      <a:endParaRPr lang="en-US" b="1">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1200327">
                <a:tc>
                  <a:txBody>
                    <a:bodyPr/>
                    <a:lstStyle/>
                    <a:p>
                      <a:pPr lvl="0" algn="l">
                        <a:lnSpc>
                          <a:spcPct val="100000"/>
                        </a:lnSpc>
                        <a:spcBef>
                          <a:spcPts val="0"/>
                        </a:spcBef>
                        <a:spcAft>
                          <a:spcPts val="0"/>
                        </a:spcAft>
                        <a:buNone/>
                      </a:pPr>
                      <a:r>
                        <a:rPr lang="en-US" sz="1000" b="0" i="0" u="none" strike="noStrike" noProof="0" dirty="0">
                          <a:solidFill>
                            <a:srgbClr val="000000"/>
                          </a:solidFill>
                          <a:effectLst/>
                          <a:latin typeface="Cambria"/>
                        </a:rPr>
                        <a:t>Yuling Sun, </a:t>
                      </a:r>
                      <a:r>
                        <a:rPr lang="en-US" sz="1000" b="0" i="0" u="none" strike="noStrike" noProof="0" err="1">
                          <a:solidFill>
                            <a:srgbClr val="000000"/>
                          </a:solidFill>
                          <a:effectLst/>
                          <a:latin typeface="Cambria"/>
                        </a:rPr>
                        <a:t>Xiuqi</a:t>
                      </a:r>
                      <a:r>
                        <a:rPr lang="en-US" sz="1000" b="0" i="0" u="none" strike="noStrike" noProof="0" dirty="0">
                          <a:solidFill>
                            <a:srgbClr val="000000"/>
                          </a:solidFill>
                          <a:effectLst/>
                          <a:latin typeface="Cambria"/>
                        </a:rPr>
                        <a:t> Zhu, </a:t>
                      </a:r>
                      <a:r>
                        <a:rPr lang="en-US" sz="1000" b="0" i="0" u="none" strike="noStrike" noProof="0" err="1">
                          <a:solidFill>
                            <a:srgbClr val="000000"/>
                          </a:solidFill>
                          <a:effectLst/>
                          <a:latin typeface="Cambria"/>
                        </a:rPr>
                        <a:t>Xiaomu</a:t>
                      </a:r>
                      <a:r>
                        <a:rPr lang="en-US" sz="1000" b="0" i="0" u="none" strike="noStrike" noProof="0" dirty="0">
                          <a:solidFill>
                            <a:srgbClr val="000000"/>
                          </a:solidFill>
                          <a:effectLst/>
                          <a:latin typeface="Cambria"/>
                        </a:rPr>
                        <a:t> Zhou, </a:t>
                      </a:r>
                      <a:r>
                        <a:rPr lang="en-US" sz="1000" b="0" i="0" u="none" strike="noStrike" noProof="0" err="1">
                          <a:solidFill>
                            <a:srgbClr val="000000"/>
                          </a:solidFill>
                          <a:effectLst/>
                          <a:latin typeface="Cambria"/>
                        </a:rPr>
                        <a:t>Bingsheng</a:t>
                      </a:r>
                      <a:r>
                        <a:rPr lang="en-US" sz="1000" b="0" i="0" u="none" strike="noStrike" noProof="0" dirty="0">
                          <a:solidFill>
                            <a:srgbClr val="000000"/>
                          </a:solidFill>
                          <a:effectLst/>
                          <a:latin typeface="Cambria"/>
                        </a:rPr>
                        <a:t> Yao, Kai Zhang, </a:t>
                      </a:r>
                      <a:r>
                        <a:rPr lang="en-US" sz="1000" b="0" i="0" u="none" strike="noStrike" noProof="0" err="1">
                          <a:solidFill>
                            <a:srgbClr val="000000"/>
                          </a:solidFill>
                          <a:effectLst/>
                          <a:latin typeface="Cambria"/>
                        </a:rPr>
                        <a:t>Dakuo</a:t>
                      </a:r>
                      <a:r>
                        <a:rPr lang="en-US" sz="1000" b="0" i="0" u="none" strike="noStrike" noProof="0" dirty="0">
                          <a:solidFill>
                            <a:srgbClr val="000000"/>
                          </a:solidFill>
                          <a:effectLst/>
                          <a:latin typeface="Cambria"/>
                        </a:rPr>
                        <a:t> Wang, </a:t>
                      </a:r>
                      <a:r>
                        <a:rPr lang="en-US" sz="1000" b="0" i="0" u="none" strike="noStrike" noProof="0" err="1">
                          <a:solidFill>
                            <a:srgbClr val="000000"/>
                          </a:solidFill>
                          <a:effectLst/>
                          <a:latin typeface="Cambria"/>
                        </a:rPr>
                        <a:t>Jiaju</a:t>
                      </a:r>
                      <a:r>
                        <a:rPr lang="en-US" sz="1000" b="0" i="0" u="none" strike="noStrike" noProof="0" dirty="0">
                          <a:solidFill>
                            <a:srgbClr val="000000"/>
                          </a:solidFill>
                          <a:effectLst/>
                          <a:latin typeface="Cambria"/>
                        </a:rPr>
                        <a:t> Chen, Liang He</a:t>
                      </a:r>
                      <a:endParaRPr lang="en-US" dirty="0">
                        <a:latin typeface="Cambria"/>
                      </a:endParaRPr>
                    </a:p>
                    <a:p>
                      <a:pPr lvl="0">
                        <a:lnSpc>
                          <a:spcPts val="1050"/>
                        </a:lnSpc>
                        <a:buNone/>
                      </a:pPr>
                      <a:endParaRPr lang="en-US" sz="1200" b="1"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r>
                        <a:rPr lang="en-US" sz="1400" dirty="0">
                          <a:effectLst/>
                          <a:latin typeface="Cambria"/>
                        </a:rPr>
                        <a:t>2025</a:t>
                      </a:r>
                      <a:endParaRPr lang="en-US"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050"/>
                        </a:lnSpc>
                        <a:buNone/>
                      </a:pPr>
                      <a:r>
                        <a:rPr lang="en-US" sz="1200" b="0" i="0" u="none" strike="noStrike" noProof="0" dirty="0">
                          <a:solidFill>
                            <a:srgbClr val="000000"/>
                          </a:solidFill>
                          <a:effectLst/>
                          <a:latin typeface="Cambria"/>
                        </a:rPr>
                        <a:t>ICT in Rural China</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050"/>
                        </a:lnSpc>
                        <a:buNone/>
                      </a:pPr>
                      <a:r>
                        <a:rPr lang="en-US" sz="1200" b="0" i="0" u="none" strike="noStrike" noProof="0" dirty="0">
                          <a:solidFill>
                            <a:srgbClr val="000000"/>
                          </a:solidFill>
                          <a:effectLst/>
                          <a:latin typeface="Cambria"/>
                        </a:rPr>
                        <a:t>Qualitative interviews &amp; obs.</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050"/>
                        </a:lnSpc>
                        <a:buNone/>
                      </a:pPr>
                      <a:r>
                        <a:rPr lang="en-US" sz="1200" b="0" i="0" u="none" strike="noStrike" noProof="0" dirty="0">
                          <a:solidFill>
                            <a:srgbClr val="000000"/>
                          </a:solidFill>
                          <a:effectLst/>
                          <a:latin typeface="Cambria"/>
                        </a:rPr>
                        <a:t>Remote classes work if local teachers contextualize content.</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600164">
                <a:tc>
                  <a:txBody>
                    <a:bodyPr/>
                    <a:lstStyle/>
                    <a:p>
                      <a:pPr lvl="0" algn="l">
                        <a:lnSpc>
                          <a:spcPct val="100000"/>
                        </a:lnSpc>
                        <a:spcBef>
                          <a:spcPts val="0"/>
                        </a:spcBef>
                        <a:spcAft>
                          <a:spcPts val="0"/>
                        </a:spcAft>
                        <a:buNone/>
                      </a:pPr>
                      <a:r>
                        <a:rPr lang="en-US" sz="1000" b="0" i="0" u="none" strike="noStrike" noProof="0" dirty="0">
                          <a:solidFill>
                            <a:srgbClr val="000000"/>
                          </a:solidFill>
                          <a:effectLst/>
                          <a:latin typeface="Cambria"/>
                        </a:rPr>
                        <a:t>Salam Michael Singh, </a:t>
                      </a:r>
                      <a:r>
                        <a:rPr lang="en-US" sz="1000" b="0" i="0" u="none" strike="noStrike" noProof="0" dirty="0" err="1">
                          <a:solidFill>
                            <a:srgbClr val="000000"/>
                          </a:solidFill>
                          <a:effectLst/>
                          <a:latin typeface="Cambria"/>
                        </a:rPr>
                        <a:t>Shubhmoy</a:t>
                      </a:r>
                      <a:r>
                        <a:rPr lang="en-US" sz="1000" b="0" i="0" u="none" strike="noStrike" noProof="0" dirty="0">
                          <a:solidFill>
                            <a:srgbClr val="000000"/>
                          </a:solidFill>
                          <a:effectLst/>
                          <a:latin typeface="Cambria"/>
                        </a:rPr>
                        <a:t> Kumar Garg, Amitesh Misra, </a:t>
                      </a:r>
                      <a:r>
                        <a:rPr lang="en-US" sz="1000" b="0" i="0" u="none" strike="noStrike" noProof="0" dirty="0" err="1">
                          <a:solidFill>
                            <a:srgbClr val="000000"/>
                          </a:solidFill>
                          <a:effectLst/>
                          <a:latin typeface="Cambria"/>
                        </a:rPr>
                        <a:t>Aaditeshwar</a:t>
                      </a:r>
                      <a:r>
                        <a:rPr lang="en-US" sz="1000" b="0" i="0" u="none" strike="noStrike" noProof="0" dirty="0">
                          <a:solidFill>
                            <a:srgbClr val="000000"/>
                          </a:solidFill>
                          <a:effectLst/>
                          <a:latin typeface="Cambria"/>
                        </a:rPr>
                        <a:t> Seth, Tanmoy Chakraborty</a:t>
                      </a:r>
                      <a:endParaRPr lang="en-US" dirty="0">
                        <a:latin typeface="Cambria"/>
                      </a:endParaRPr>
                    </a:p>
                    <a:p>
                      <a:pPr lvl="0">
                        <a:lnSpc>
                          <a:spcPts val="1050"/>
                        </a:lnSpc>
                        <a:buNone/>
                      </a:pPr>
                      <a:endParaRPr lang="en-US" sz="1200" b="1"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r>
                        <a:rPr lang="en-US" sz="1400" dirty="0">
                          <a:effectLst/>
                          <a:latin typeface="Cambria"/>
                        </a:rPr>
                        <a:t>2024</a:t>
                      </a:r>
                      <a:endParaRPr lang="en-US"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050"/>
                        </a:lnSpc>
                        <a:buNone/>
                      </a:pPr>
                      <a:r>
                        <a:rPr lang="en-US" sz="1200" b="0" i="0" u="none" strike="noStrike" noProof="0" dirty="0">
                          <a:solidFill>
                            <a:srgbClr val="000000"/>
                          </a:solidFill>
                          <a:effectLst/>
                          <a:latin typeface="Cambria"/>
                        </a:rPr>
                        <a:t>SUKHSANDESH AI Sexual Edu.</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050"/>
                        </a:lnSpc>
                        <a:buNone/>
                      </a:pPr>
                      <a:r>
                        <a:rPr lang="en-US" sz="1200" b="0" i="0" u="none" strike="noStrike" noProof="0" dirty="0">
                          <a:solidFill>
                            <a:srgbClr val="000000"/>
                          </a:solidFill>
                          <a:effectLst/>
                          <a:latin typeface="Cambria"/>
                        </a:rPr>
                        <a:t>Platform proposal</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050"/>
                        </a:lnSpc>
                        <a:buNone/>
                      </a:pPr>
                      <a:r>
                        <a:rPr lang="en-US" sz="1200" b="0" i="0" u="none" strike="noStrike" noProof="0" dirty="0">
                          <a:solidFill>
                            <a:srgbClr val="000000"/>
                          </a:solidFill>
                          <a:effectLst/>
                          <a:latin typeface="Cambria"/>
                        </a:rPr>
                        <a:t>AI avatars break stigma; need safety &amp; language localization.</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673653">
                <a:tc>
                  <a:txBody>
                    <a:bodyPr/>
                    <a:lstStyle/>
                    <a:p>
                      <a:pPr lvl="0" algn="l">
                        <a:lnSpc>
                          <a:spcPct val="100000"/>
                        </a:lnSpc>
                        <a:spcBef>
                          <a:spcPts val="0"/>
                        </a:spcBef>
                        <a:spcAft>
                          <a:spcPts val="0"/>
                        </a:spcAft>
                        <a:buNone/>
                      </a:pPr>
                      <a:r>
                        <a:rPr lang="en-US" sz="1000" b="0" i="0" u="none" strike="noStrike" noProof="0" dirty="0" err="1">
                          <a:solidFill>
                            <a:srgbClr val="000000"/>
                          </a:solidFill>
                          <a:effectLst/>
                          <a:latin typeface="Cambria"/>
                        </a:rPr>
                        <a:t>Te</a:t>
                      </a:r>
                      <a:r>
                        <a:rPr lang="en-US" sz="1000" b="0" i="0" u="none" strike="noStrike" noProof="0" dirty="0">
                          <a:solidFill>
                            <a:srgbClr val="000000"/>
                          </a:solidFill>
                          <a:effectLst/>
                          <a:latin typeface="Cambria"/>
                        </a:rPr>
                        <a:t>-Hsin Hsieh &amp; </a:t>
                      </a:r>
                      <a:r>
                        <a:rPr lang="en-US" sz="1000" b="0" i="0" u="none" strike="noStrike" noProof="0" dirty="0" err="1">
                          <a:solidFill>
                            <a:srgbClr val="000000"/>
                          </a:solidFill>
                          <a:effectLst/>
                          <a:latin typeface="Cambria"/>
                        </a:rPr>
                        <a:t>Xueye</a:t>
                      </a:r>
                      <a:r>
                        <a:rPr lang="en-US" sz="1000" b="0" i="0" u="none" strike="noStrike" noProof="0" dirty="0">
                          <a:solidFill>
                            <a:srgbClr val="000000"/>
                          </a:solidFill>
                          <a:effectLst/>
                          <a:latin typeface="Cambria"/>
                        </a:rPr>
                        <a:t> Lai</a:t>
                      </a:r>
                      <a:endParaRPr lang="en-US" dirty="0">
                        <a:latin typeface="Cambria"/>
                      </a:endParaRPr>
                    </a:p>
                    <a:p>
                      <a:pPr lvl="0">
                        <a:lnSpc>
                          <a:spcPts val="1050"/>
                        </a:lnSpc>
                        <a:buNone/>
                      </a:pPr>
                      <a:endParaRPr lang="en-US" sz="1200" b="1"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r>
                        <a:rPr lang="en-US" sz="1400" dirty="0">
                          <a:effectLst/>
                          <a:latin typeface="Cambria"/>
                        </a:rPr>
                        <a:t>2024</a:t>
                      </a:r>
                      <a:endParaRPr lang="en-US"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ML for Rural Talent Dev.</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RF &amp; </a:t>
                      </a:r>
                      <a:r>
                        <a:rPr lang="en-US" sz="1400" b="0" i="0" u="none" strike="noStrike" noProof="0" dirty="0" err="1">
                          <a:solidFill>
                            <a:srgbClr val="000000"/>
                          </a:solidFill>
                          <a:effectLst/>
                          <a:latin typeface="Cambria"/>
                        </a:rPr>
                        <a:t>XGBoost</a:t>
                      </a:r>
                      <a:r>
                        <a:rPr lang="en-US" sz="1400" b="0" i="0" u="none" strike="noStrike" noProof="0" dirty="0">
                          <a:solidFill>
                            <a:srgbClr val="000000"/>
                          </a:solidFill>
                          <a:effectLst/>
                          <a:latin typeface="Cambria"/>
                        </a:rPr>
                        <a:t> analysis</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ML predicts adaptability; supports scalable training.</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673653">
                <a:tc>
                  <a:txBody>
                    <a:bodyPr/>
                    <a:lstStyle/>
                    <a:p>
                      <a:pPr lvl="0" algn="l">
                        <a:lnSpc>
                          <a:spcPct val="100000"/>
                        </a:lnSpc>
                        <a:spcBef>
                          <a:spcPts val="0"/>
                        </a:spcBef>
                        <a:spcAft>
                          <a:spcPts val="0"/>
                        </a:spcAft>
                        <a:buNone/>
                      </a:pPr>
                      <a:r>
                        <a:rPr lang="en-US" sz="1000" b="0" i="0" u="none" strike="noStrike" noProof="0" dirty="0">
                          <a:solidFill>
                            <a:srgbClr val="000000"/>
                          </a:solidFill>
                          <a:effectLst/>
                          <a:latin typeface="Cambria"/>
                        </a:rPr>
                        <a:t>Multiple authors</a:t>
                      </a:r>
                      <a:endParaRPr lang="en-US" dirty="0">
                        <a:latin typeface="Cambria"/>
                      </a:endParaRPr>
                    </a:p>
                    <a:p>
                      <a:pPr lvl="0">
                        <a:lnSpc>
                          <a:spcPts val="1050"/>
                        </a:lnSpc>
                        <a:buNone/>
                      </a:pPr>
                      <a:endParaRPr lang="en-US" sz="1200" b="1"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r>
                        <a:rPr lang="en-US" sz="1400" dirty="0">
                          <a:effectLst/>
                          <a:latin typeface="Cambria"/>
                        </a:rPr>
                        <a:t>2024</a:t>
                      </a:r>
                      <a:endParaRPr lang="en-US"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Gen-AI in Rural Teaching</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Analytical review</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Gen-AI personalized learning but infra gaps hinder adoption.</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943115">
                <a:tc>
                  <a:txBody>
                    <a:bodyPr/>
                    <a:lstStyle/>
                    <a:p>
                      <a:pPr rtl="0" fontAlgn="base">
                        <a:lnSpc>
                          <a:spcPts val="1050"/>
                        </a:lnSpc>
                        <a:buNone/>
                      </a:pPr>
                      <a:r>
                        <a:rPr lang="en-US" sz="1200" b="1" dirty="0">
                          <a:effectLst/>
                          <a:latin typeface="Cambria"/>
                        </a:rPr>
                        <a:t> </a:t>
                      </a:r>
                      <a:r>
                        <a:rPr lang="en-US" sz="1000" b="0" i="0" u="none" strike="noStrike" noProof="0" dirty="0">
                          <a:solidFill>
                            <a:srgbClr val="000000"/>
                          </a:solidFill>
                          <a:effectLst/>
                          <a:latin typeface="Cambria"/>
                        </a:rPr>
                        <a:t>Arihant Bardia &amp; Aayush Agrawal</a:t>
                      </a:r>
                      <a:endParaRPr lang="en-US" dirty="0">
                        <a:latin typeface="Cambria"/>
                      </a:endParaRPr>
                    </a:p>
                    <a:p>
                      <a:pPr lvl="0">
                        <a:lnSpc>
                          <a:spcPts val="1050"/>
                        </a:lnSpc>
                        <a:buNone/>
                      </a:pPr>
                      <a:endParaRPr lang="en-US" sz="1200" b="1"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r>
                        <a:rPr lang="en-US" sz="1400" dirty="0">
                          <a:effectLst/>
                          <a:latin typeface="Cambria"/>
                        </a:rPr>
                        <a:t>2024</a:t>
                      </a:r>
                      <a:endParaRPr lang="en-US"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err="1">
                          <a:solidFill>
                            <a:srgbClr val="000000"/>
                          </a:solidFill>
                          <a:effectLst/>
                          <a:latin typeface="Cambria"/>
                        </a:rPr>
                        <a:t>MindCraft</a:t>
                      </a:r>
                      <a:r>
                        <a:rPr lang="en-US" sz="1400" b="0" i="0" u="none" strike="noStrike" noProof="0" dirty="0">
                          <a:solidFill>
                            <a:srgbClr val="000000"/>
                          </a:solidFill>
                          <a:effectLst/>
                          <a:latin typeface="Cambria"/>
                        </a:rPr>
                        <a:t> AI Learning</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System design</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AI personalization + mentorship + low bandwidth support helps rural learners.</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Diagram</a:t>
            </a:r>
            <a:endParaRPr lang="en-US" dirty="0"/>
          </a:p>
        </p:txBody>
      </p:sp>
      <p:pic>
        <p:nvPicPr>
          <p:cNvPr id="4" name="Picture 3" descr="A diagram of a system&#10;&#10;AI-generated content may be incorrect."/>
          <p:cNvPicPr>
            <a:picLocks noChangeAspect="1"/>
          </p:cNvPicPr>
          <p:nvPr/>
        </p:nvPicPr>
        <p:blipFill>
          <a:blip r:embed="rId1"/>
          <a:srcRect l="29715" t="16691" r="29715" b="16131"/>
          <a:stretch>
            <a:fillRect/>
          </a:stretch>
        </p:blipFill>
        <p:spPr>
          <a:xfrm>
            <a:off x="3489158" y="1196474"/>
            <a:ext cx="5220372" cy="486109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Modules</a:t>
            </a:r>
            <a:endParaRPr lang="en-US" dirty="0"/>
          </a:p>
        </p:txBody>
      </p:sp>
      <p:sp>
        <p:nvSpPr>
          <p:cNvPr id="3" name="Text Placeholder 2"/>
          <p:cNvSpPr>
            <a:spLocks noGrp="1"/>
          </p:cNvSpPr>
          <p:nvPr>
            <p:ph type="body" idx="1"/>
          </p:nvPr>
        </p:nvSpPr>
        <p:spPr/>
        <p:txBody>
          <a:bodyPr>
            <a:normAutofit fontScale="40000"/>
          </a:bodyPr>
          <a:lstStyle/>
          <a:p>
            <a:pPr marL="76200" indent="0">
              <a:buNone/>
            </a:pPr>
            <a:r>
              <a:rPr lang="en-US" b="1" dirty="0">
                <a:latin typeface="Cambria"/>
              </a:rPr>
              <a:t>1. User Module</a:t>
            </a:r>
            <a:endParaRPr lang="en-US" b="1" dirty="0">
              <a:latin typeface="Cambria"/>
            </a:endParaRPr>
          </a:p>
          <a:p>
            <a:r>
              <a:rPr lang="en-US" b="1" dirty="0">
                <a:latin typeface="Cambria"/>
              </a:rPr>
              <a:t>Handles registration and login for students, mentors, and parents.</a:t>
            </a:r>
            <a:endParaRPr lang="en-US" b="1" dirty="0">
              <a:latin typeface="Cambria"/>
            </a:endParaRPr>
          </a:p>
          <a:p>
            <a:r>
              <a:rPr lang="en-US" b="1" dirty="0">
                <a:latin typeface="Cambria"/>
              </a:rPr>
              <a:t>Supports profile management in multiple Indian languages with data secured through bcrypt authentication and role-based access control (RBAC).</a:t>
            </a:r>
            <a:endParaRPr lang="en-US" b="1" dirty="0">
              <a:latin typeface="Cambria"/>
            </a:endParaRPr>
          </a:p>
          <a:p>
            <a:pPr marL="76200" indent="0">
              <a:buNone/>
            </a:pPr>
            <a:r>
              <a:rPr lang="en-US" b="1" dirty="0">
                <a:latin typeface="Cambria"/>
              </a:rPr>
              <a:t>2. Study Material Module</a:t>
            </a:r>
            <a:endParaRPr lang="en-US" b="1" dirty="0">
              <a:latin typeface="Cambria"/>
            </a:endParaRPr>
          </a:p>
          <a:p>
            <a:r>
              <a:rPr lang="en-US" b="1" dirty="0">
                <a:latin typeface="Cambria"/>
              </a:rPr>
              <a:t>Provides access to digital learning resources such as PDFs, notes, and quizzes.</a:t>
            </a:r>
            <a:endParaRPr lang="en-US" b="1" dirty="0">
              <a:latin typeface="Cambria"/>
            </a:endParaRPr>
          </a:p>
          <a:p>
            <a:r>
              <a:rPr lang="en-US" b="1" dirty="0">
                <a:latin typeface="Cambria"/>
              </a:rPr>
              <a:t>Includes multilingual support using rule-based NLP and allows content download for offline accessibility in low-connectivity regions.</a:t>
            </a:r>
            <a:endParaRPr lang="en-US" b="1" dirty="0">
              <a:latin typeface="Cambria"/>
            </a:endParaRPr>
          </a:p>
          <a:p>
            <a:pPr marL="76200" indent="0">
              <a:buNone/>
            </a:pPr>
            <a:r>
              <a:rPr lang="en-US" b="1" dirty="0">
                <a:latin typeface="Cambria"/>
              </a:rPr>
              <a:t>3. Skill Progress and Monitoring Module</a:t>
            </a:r>
            <a:endParaRPr lang="en-US" b="1" dirty="0">
              <a:latin typeface="Cambria"/>
            </a:endParaRPr>
          </a:p>
          <a:p>
            <a:r>
              <a:rPr lang="en-US" b="1" dirty="0">
                <a:latin typeface="Cambria"/>
              </a:rPr>
              <a:t>Tracks student learning progress and communication skills over time.</a:t>
            </a:r>
            <a:endParaRPr lang="en-US" b="1" dirty="0">
              <a:latin typeface="Cambria"/>
            </a:endParaRPr>
          </a:p>
          <a:p>
            <a:r>
              <a:rPr lang="en-US" b="1" dirty="0">
                <a:latin typeface="Cambria"/>
              </a:rPr>
              <a:t>Displays performance analytics through an interactive dashboard showing metrics like completion rates and engagement levels.</a:t>
            </a:r>
            <a:endParaRPr lang="en-US" b="1" dirty="0">
              <a:latin typeface="Cambria"/>
            </a:endParaRPr>
          </a:p>
          <a:p>
            <a:pPr marL="76200" indent="0">
              <a:buNone/>
            </a:pPr>
            <a:r>
              <a:rPr lang="en-US" b="1" dirty="0">
                <a:latin typeface="Cambria"/>
              </a:rPr>
              <a:t>4. Scholarship and Grants Module</a:t>
            </a:r>
            <a:endParaRPr lang="en-US" b="1" dirty="0">
              <a:latin typeface="Cambria"/>
            </a:endParaRPr>
          </a:p>
          <a:p>
            <a:r>
              <a:rPr lang="en-US" b="1" dirty="0">
                <a:latin typeface="Cambria"/>
              </a:rPr>
              <a:t>Lists available scholarships, grants, and educational aid programs.</a:t>
            </a:r>
            <a:endParaRPr lang="en-US" b="1" dirty="0">
              <a:latin typeface="Cambria"/>
            </a:endParaRPr>
          </a:p>
          <a:p>
            <a:r>
              <a:rPr lang="en-US" b="1" dirty="0">
                <a:latin typeface="Cambria"/>
              </a:rPr>
              <a:t>Displays eligibility criteria, deadlines, and direct links to official application portals.</a:t>
            </a:r>
            <a:endParaRPr lang="en-US" b="1" dirty="0">
              <a:latin typeface="Cambria"/>
            </a:endParaRPr>
          </a:p>
          <a:p>
            <a:pPr marL="76200" indent="0">
              <a:buNone/>
            </a:pPr>
            <a:r>
              <a:rPr lang="en-US" b="1" dirty="0">
                <a:latin typeface="Cambria"/>
              </a:rPr>
              <a:t>5. Employment and Opportunities Module</a:t>
            </a:r>
            <a:endParaRPr lang="en-US" b="1" dirty="0">
              <a:latin typeface="Cambria"/>
            </a:endParaRPr>
          </a:p>
          <a:p>
            <a:r>
              <a:rPr lang="en-US" b="1" dirty="0">
                <a:latin typeface="Cambria"/>
              </a:rPr>
              <a:t>Provides updates on jobs, internships, and vocational training programs relevant to students’ fields of study.</a:t>
            </a:r>
            <a:endParaRPr lang="en-US" b="1" dirty="0">
              <a:latin typeface="Cambria"/>
            </a:endParaRPr>
          </a:p>
          <a:p>
            <a:r>
              <a:rPr lang="en-US" b="1" dirty="0">
                <a:latin typeface="Cambria"/>
              </a:rPr>
              <a:t>Promotes career awareness by sharing verified listings and guidance materials.</a:t>
            </a:r>
            <a:endParaRPr lang="en-US" b="1" dirty="0">
              <a:latin typeface="Cambria"/>
            </a:endParaRPr>
          </a:p>
          <a:p>
            <a:pPr marL="76200" indent="0">
              <a:buNone/>
            </a:pPr>
            <a:r>
              <a:rPr lang="en-US" b="1" dirty="0">
                <a:latin typeface="Cambria"/>
              </a:rPr>
              <a:t>6. Chatbot and Automated Mentorship Module</a:t>
            </a:r>
            <a:endParaRPr lang="en-US" b="1" dirty="0">
              <a:latin typeface="Cambria"/>
            </a:endParaRPr>
          </a:p>
          <a:p>
            <a:r>
              <a:rPr lang="en-US" b="1" dirty="0">
                <a:latin typeface="Cambria"/>
              </a:rPr>
              <a:t>Implements a multilingual, rule-based NLP chatbot that answers academic queries in the user’s preferred language.</a:t>
            </a:r>
            <a:endParaRPr lang="en-US" b="1" dirty="0">
              <a:latin typeface="Cambria"/>
            </a:endParaRPr>
          </a:p>
          <a:p>
            <a:r>
              <a:rPr lang="en-US" b="1" dirty="0">
                <a:latin typeface="Cambria"/>
              </a:rPr>
              <a:t>Acts as an automated mentor, offering predefined educational and motivational responses from multilingual templates, enabling continuous guidance without requiring live mentors.</a:t>
            </a:r>
            <a:endParaRPr lang="en-US" b="1" dirty="0">
              <a:latin typeface="Cambria"/>
            </a:endParaRPr>
          </a:p>
          <a:p>
            <a:pPr marL="76200" indent="0">
              <a:buNone/>
            </a:pPr>
            <a:r>
              <a:rPr lang="en-US" b="1" dirty="0">
                <a:latin typeface="Cambria"/>
              </a:rPr>
              <a:t>7. Community and Support Module</a:t>
            </a:r>
            <a:endParaRPr lang="en-US" b="1" dirty="0">
              <a:latin typeface="Cambria"/>
            </a:endParaRPr>
          </a:p>
          <a:p>
            <a:r>
              <a:rPr lang="en-US" b="1" dirty="0">
                <a:latin typeface="Cambria"/>
              </a:rPr>
              <a:t>Facilitates peer-to-peer learning and interaction, allowing students to share study tips, challenges, and experiences.</a:t>
            </a:r>
            <a:endParaRPr lang="en-US" b="1" dirty="0">
              <a:latin typeface="Cambria"/>
            </a:endParaRPr>
          </a:p>
          <a:p>
            <a:r>
              <a:rPr lang="en-US" b="1" dirty="0">
                <a:latin typeface="Cambria"/>
              </a:rPr>
              <a:t>Provides a structured communication channel between students and mentors for feedback and academic discussions.</a:t>
            </a:r>
            <a:endParaRPr lang="en-US" b="1" dirty="0">
              <a:latin typeface="Cambri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Algorithms</a:t>
            </a:r>
            <a:endParaRPr lang="en-US" dirty="0"/>
          </a:p>
        </p:txBody>
      </p:sp>
      <p:sp>
        <p:nvSpPr>
          <p:cNvPr id="3" name="Text Placeholder 2"/>
          <p:cNvSpPr>
            <a:spLocks noGrp="1"/>
          </p:cNvSpPr>
          <p:nvPr>
            <p:ph type="body" idx="1"/>
          </p:nvPr>
        </p:nvSpPr>
        <p:spPr>
          <a:xfrm>
            <a:off x="812800" y="1143000"/>
            <a:ext cx="10857865" cy="4785360"/>
          </a:xfrm>
        </p:spPr>
        <p:txBody>
          <a:bodyPr>
            <a:noAutofit/>
          </a:bodyPr>
          <a:lstStyle/>
          <a:p>
            <a:pPr marL="76200" indent="0">
              <a:buNone/>
            </a:pPr>
            <a:r>
              <a:rPr lang="en-US" sz="1100">
                <a:latin typeface="Times New Roman" panose="02020603050405020304"/>
              </a:rPr>
              <a:t>1. Authentication (bcrypt)</a:t>
            </a:r>
            <a:endParaRPr lang="en-US" sz="1100">
              <a:latin typeface="Times New Roman" panose="02020603050405020304"/>
            </a:endParaRPr>
          </a:p>
          <a:p>
            <a:r>
              <a:rPr lang="en-US" sz="1100">
                <a:latin typeface="Times New Roman" panose="02020603050405020304"/>
              </a:rPr>
              <a:t>Purpose: Securely verify user credentials using password hashing.</a:t>
            </a:r>
            <a:endParaRPr lang="en-US" sz="1100">
              <a:latin typeface="Times New Roman" panose="02020603050405020304"/>
            </a:endParaRPr>
          </a:p>
          <a:p>
            <a:r>
              <a:rPr lang="en-US" sz="1100">
                <a:latin typeface="Times New Roman" panose="02020603050405020304"/>
              </a:rPr>
              <a:t>Use: Protects all user accounts (students, mentors, and admins) by encrypting passwords with bcrypt, ensuring privacy and security during login and registration.</a:t>
            </a:r>
            <a:endParaRPr lang="en-US" sz="1100">
              <a:latin typeface="Times New Roman" panose="02020603050405020304"/>
            </a:endParaRPr>
          </a:p>
          <a:p>
            <a:pPr>
              <a:buNone/>
            </a:pPr>
            <a:r>
              <a:rPr lang="en-US" sz="1100">
                <a:latin typeface="Times New Roman" panose="02020603050405020304"/>
              </a:rPr>
              <a:t>2. Role-Based Access Control (RBAC)</a:t>
            </a:r>
            <a:endParaRPr lang="en-US" sz="1100">
              <a:latin typeface="Times New Roman" panose="02020603050405020304"/>
            </a:endParaRPr>
          </a:p>
          <a:p>
            <a:r>
              <a:rPr lang="en-US" sz="1100">
                <a:latin typeface="Times New Roman" panose="02020603050405020304"/>
              </a:rPr>
              <a:t>Purpose: Enforce data access boundaries based on user type.</a:t>
            </a:r>
            <a:endParaRPr lang="en-US" sz="1100">
              <a:latin typeface="Times New Roman" panose="02020603050405020304"/>
            </a:endParaRPr>
          </a:p>
          <a:p>
            <a:r>
              <a:rPr lang="en-US" sz="1100">
                <a:latin typeface="Times New Roman" panose="02020603050405020304"/>
              </a:rPr>
              <a:t>Use: Defines permissions for students, mentors, and administrators—ensuring each role can only access authorized modules such as progress tracking, mentorship dashboards, or content management.</a:t>
            </a:r>
            <a:endParaRPr lang="en-US" sz="1100">
              <a:latin typeface="Times New Roman" panose="02020603050405020304"/>
            </a:endParaRPr>
          </a:p>
          <a:p>
            <a:pPr marL="76200" indent="0">
              <a:buNone/>
            </a:pPr>
            <a:r>
              <a:rPr lang="en-US" sz="1100">
                <a:latin typeface="Times New Roman" panose="02020603050405020304"/>
              </a:rPr>
              <a:t>3. Data Management (CRUD Operations)</a:t>
            </a:r>
            <a:endParaRPr lang="en-US" sz="1100">
              <a:latin typeface="Times New Roman" panose="02020603050405020304"/>
            </a:endParaRPr>
          </a:p>
          <a:p>
            <a:r>
              <a:rPr lang="en-US" sz="1100">
                <a:latin typeface="Times New Roman" panose="02020603050405020304"/>
              </a:rPr>
              <a:t>Purpose: Manage learning content and user information efficiently.</a:t>
            </a:r>
            <a:endParaRPr lang="en-US" sz="1100">
              <a:latin typeface="Times New Roman" panose="02020603050405020304"/>
            </a:endParaRPr>
          </a:p>
          <a:p>
            <a:r>
              <a:rPr lang="en-US" sz="1100">
                <a:latin typeface="Times New Roman" panose="02020603050405020304"/>
              </a:rPr>
              <a:t>Use: Enables creation, retrieval, updating, and deletion of entries such as study materials, progress records, and scholarship listings through secure RESTful API endpoints.</a:t>
            </a:r>
            <a:endParaRPr lang="en-US" sz="1100">
              <a:latin typeface="Times New Roman" panose="02020603050405020304"/>
            </a:endParaRPr>
          </a:p>
          <a:p>
            <a:pPr marL="76200" indent="0">
              <a:buNone/>
            </a:pPr>
            <a:r>
              <a:rPr lang="en-US" sz="1100">
                <a:latin typeface="Times New Roman" panose="02020603050405020304"/>
              </a:rPr>
              <a:t>4. Session and Token Management</a:t>
            </a:r>
            <a:endParaRPr lang="en-US" sz="1100">
              <a:latin typeface="Times New Roman" panose="02020603050405020304"/>
            </a:endParaRPr>
          </a:p>
          <a:p>
            <a:r>
              <a:rPr lang="en-US" sz="1100">
                <a:latin typeface="Times New Roman" panose="02020603050405020304"/>
              </a:rPr>
              <a:t>Purpose: Maintain seamless user sessions with secure authorization.</a:t>
            </a:r>
            <a:endParaRPr lang="en-US" sz="1100">
              <a:latin typeface="Times New Roman" panose="02020603050405020304"/>
            </a:endParaRPr>
          </a:p>
          <a:p>
            <a:r>
              <a:rPr lang="en-US" sz="1100">
                <a:latin typeface="Times New Roman" panose="02020603050405020304"/>
              </a:rPr>
              <a:t>Use: Uses JWT (JSON Web Tokens) and Express middleware to keep users authenticated during active sessions, providing smooth navigation without frequent re-login.</a:t>
            </a:r>
            <a:endParaRPr lang="en-US" sz="1100">
              <a:latin typeface="Times New Roman" panose="02020603050405020304"/>
            </a:endParaRPr>
          </a:p>
          <a:p>
            <a:pPr marL="76200" indent="0">
              <a:buNone/>
            </a:pPr>
            <a:r>
              <a:rPr lang="en-US" sz="1100">
                <a:latin typeface="Times New Roman" panose="02020603050405020304"/>
              </a:rPr>
              <a:t>5. Search and Filtering</a:t>
            </a:r>
            <a:endParaRPr lang="en-US" sz="1100">
              <a:latin typeface="Times New Roman" panose="02020603050405020304"/>
            </a:endParaRPr>
          </a:p>
          <a:p>
            <a:r>
              <a:rPr lang="en-US" sz="1100">
                <a:latin typeface="Times New Roman" panose="02020603050405020304"/>
              </a:rPr>
              <a:t>Purpose: Simplify content discovery and data handling.</a:t>
            </a:r>
            <a:endParaRPr lang="en-US" sz="1100">
              <a:latin typeface="Times New Roman" panose="02020603050405020304"/>
            </a:endParaRPr>
          </a:p>
          <a:p>
            <a:r>
              <a:rPr lang="en-US" sz="1100">
                <a:latin typeface="Times New Roman" panose="02020603050405020304"/>
              </a:rPr>
              <a:t>Use: Allows users to quickly locate study materials, mentors, or opportunities using keyword-based search and filtering logic for faster retrieval and user convenience.</a:t>
            </a:r>
            <a:endParaRPr lang="en-US" sz="1100">
              <a:latin typeface="Times New Roman" panose="02020603050405020304"/>
            </a:endParaRPr>
          </a:p>
          <a:p>
            <a:pPr marL="76200" indent="0">
              <a:buNone/>
            </a:pPr>
            <a:r>
              <a:rPr lang="en-US" sz="1100">
                <a:latin typeface="Times New Roman" panose="02020603050405020304"/>
              </a:rPr>
              <a:t>6. Multilingual Query Handling (Rule-Based NLP)</a:t>
            </a:r>
            <a:endParaRPr lang="en-US" sz="1100">
              <a:latin typeface="Times New Roman" panose="02020603050405020304"/>
            </a:endParaRPr>
          </a:p>
          <a:p>
            <a:r>
              <a:rPr lang="en-US" sz="1100">
                <a:latin typeface="Times New Roman" panose="02020603050405020304"/>
              </a:rPr>
              <a:t>Purpose: Enable understanding and response generation in multiple languages.</a:t>
            </a:r>
            <a:endParaRPr lang="en-US" sz="1100">
              <a:latin typeface="Times New Roman" panose="02020603050405020304"/>
            </a:endParaRPr>
          </a:p>
          <a:p>
            <a:r>
              <a:rPr lang="en-US" sz="1100">
                <a:latin typeface="Times New Roman" panose="02020603050405020304"/>
              </a:rPr>
              <a:t>Use: Detects language using franc and custom script-based detection, then applies rule-based logic to generate responses from predefined multilingual templates—supporting inclusivity for rural learners.</a:t>
            </a:r>
            <a:endParaRPr lang="en-US" sz="1100">
              <a:latin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nSpc>
                <a:spcPct val="200000"/>
              </a:lnSpc>
            </a:pPr>
            <a:r>
              <a:rPr lang="en-US" dirty="0">
                <a:latin typeface="Cambria"/>
                <a:ea typeface="Cambria"/>
              </a:rPr>
              <a:t>Hardware and Software Requirements</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857250"/>
            <a:ext cx="10668000" cy="4953000"/>
          </a:xfrm>
          <a:prstGeom prst="rect">
            <a:avLst/>
          </a:prstGeom>
          <a:noFill/>
          <a:ln>
            <a:noFill/>
          </a:ln>
        </p:spPr>
        <p:txBody>
          <a:bodyPr spcFirstLastPara="1" wrap="square" lIns="91425" tIns="45700" rIns="91425" bIns="45700" anchor="t" anchorCtr="0">
            <a:noAutofit/>
          </a:bodyPr>
          <a:lstStyle/>
          <a:p>
            <a:pPr marL="152400" indent="0" algn="just">
              <a:lnSpc>
                <a:spcPct val="200000"/>
              </a:lnSpc>
              <a:spcBef>
                <a:spcPts val="0"/>
              </a:spcBef>
              <a:buNone/>
            </a:pPr>
            <a:r>
              <a:rPr lang="en-US" sz="1600" b="1" dirty="0">
                <a:latin typeface="Cambria"/>
              </a:rPr>
              <a:t>Hardware Requirements</a:t>
            </a:r>
            <a:endParaRPr lang="en-US" sz="1600" b="1"/>
          </a:p>
          <a:p>
            <a:pPr marL="495300" indent="-342900" algn="just">
              <a:lnSpc>
                <a:spcPct val="200000"/>
              </a:lnSpc>
              <a:spcBef>
                <a:spcPts val="0"/>
              </a:spcBef>
            </a:pPr>
            <a:r>
              <a:rPr lang="en-US" sz="1400" dirty="0">
                <a:latin typeface="Cambria"/>
              </a:rPr>
              <a:t>Processor: Intel i5 / AMD Ryzen 5 or higher</a:t>
            </a:r>
            <a:endParaRPr lang="en-US" sz="1400" dirty="0">
              <a:latin typeface="Cambria"/>
            </a:endParaRPr>
          </a:p>
          <a:p>
            <a:pPr marL="495300" indent="-342900" algn="just">
              <a:lnSpc>
                <a:spcPct val="200000"/>
              </a:lnSpc>
              <a:spcBef>
                <a:spcPts val="0"/>
              </a:spcBef>
            </a:pPr>
            <a:r>
              <a:rPr lang="en-US" sz="1400" dirty="0">
                <a:latin typeface="Cambria"/>
              </a:rPr>
              <a:t>RAM: 8 GB or more</a:t>
            </a:r>
            <a:endParaRPr lang="en-US" sz="1400" dirty="0">
              <a:latin typeface="Cambria"/>
            </a:endParaRPr>
          </a:p>
          <a:p>
            <a:pPr marL="495300" indent="-342900" algn="just">
              <a:lnSpc>
                <a:spcPct val="200000"/>
              </a:lnSpc>
              <a:spcBef>
                <a:spcPts val="0"/>
              </a:spcBef>
            </a:pPr>
            <a:r>
              <a:rPr lang="en-US" sz="1400" dirty="0">
                <a:latin typeface="Cambria"/>
              </a:rPr>
              <a:t>Storage: 256 GB SSD</a:t>
            </a:r>
            <a:endParaRPr lang="en-US" sz="1400" dirty="0">
              <a:latin typeface="Cambria"/>
            </a:endParaRPr>
          </a:p>
          <a:p>
            <a:pPr marL="495300" indent="-342900" algn="just">
              <a:lnSpc>
                <a:spcPct val="200000"/>
              </a:lnSpc>
              <a:spcBef>
                <a:spcPts val="0"/>
              </a:spcBef>
            </a:pPr>
            <a:r>
              <a:rPr lang="en-US" sz="1400" dirty="0">
                <a:latin typeface="Cambria"/>
              </a:rPr>
              <a:t>OS: Windows 10 / Linux / macOS</a:t>
            </a:r>
            <a:endParaRPr lang="en-US" sz="1400" dirty="0">
              <a:latin typeface="Cambria"/>
            </a:endParaRPr>
          </a:p>
          <a:p>
            <a:pPr marL="152400" indent="0" algn="just">
              <a:lnSpc>
                <a:spcPct val="200000"/>
              </a:lnSpc>
              <a:spcBef>
                <a:spcPts val="0"/>
              </a:spcBef>
              <a:buNone/>
            </a:pPr>
            <a:r>
              <a:rPr lang="en-US" sz="1600" b="1" dirty="0">
                <a:latin typeface="Cambria"/>
              </a:rPr>
              <a:t>Software Requirements</a:t>
            </a:r>
            <a:endParaRPr lang="en-US" sz="1600" b="1" dirty="0">
              <a:latin typeface="Cambria"/>
            </a:endParaRPr>
          </a:p>
          <a:p>
            <a:pPr marL="495300" indent="-342900" algn="just">
              <a:lnSpc>
                <a:spcPct val="200000"/>
              </a:lnSpc>
              <a:spcBef>
                <a:spcPts val="0"/>
              </a:spcBef>
            </a:pPr>
            <a:r>
              <a:rPr lang="en-US" sz="1400" dirty="0">
                <a:latin typeface="Cambria"/>
              </a:rPr>
              <a:t>Frontend (User Interface):HTML5, CSS3, JavaScript, Tailwind CSS, React.js</a:t>
            </a:r>
            <a:endParaRPr lang="en-US" sz="1400" dirty="0">
              <a:latin typeface="Cambria"/>
            </a:endParaRPr>
          </a:p>
          <a:p>
            <a:pPr marL="495300" indent="-342900" algn="just">
              <a:lnSpc>
                <a:spcPct val="200000"/>
              </a:lnSpc>
              <a:spcBef>
                <a:spcPts val="0"/>
              </a:spcBef>
            </a:pPr>
            <a:r>
              <a:rPr lang="en-US" sz="1400" dirty="0">
                <a:latin typeface="Cambria"/>
              </a:rPr>
              <a:t>Backend (Server &amp; API): Node.js + Express.js</a:t>
            </a:r>
            <a:endParaRPr lang="en-US" sz="1400" dirty="0">
              <a:latin typeface="Cambria"/>
            </a:endParaRPr>
          </a:p>
          <a:p>
            <a:pPr marL="495300" indent="-342900" algn="just">
              <a:lnSpc>
                <a:spcPct val="200000"/>
              </a:lnSpc>
              <a:spcBef>
                <a:spcPts val="0"/>
              </a:spcBef>
            </a:pPr>
            <a:r>
              <a:rPr lang="en-US" sz="1400" dirty="0">
                <a:latin typeface="Cambria"/>
              </a:rPr>
              <a:t>Database: MongoDB (NoSQL)</a:t>
            </a:r>
            <a:endParaRPr lang="en-US" sz="1400" dirty="0">
              <a:latin typeface="Cambria"/>
            </a:endParaRPr>
          </a:p>
          <a:p>
            <a:pPr marL="495300" indent="-342900" algn="just">
              <a:lnSpc>
                <a:spcPct val="200000"/>
              </a:lnSpc>
              <a:spcBef>
                <a:spcPts val="0"/>
              </a:spcBef>
            </a:pPr>
            <a:r>
              <a:rPr lang="en-US" sz="1400" dirty="0">
                <a:latin typeface="Cambria"/>
              </a:rPr>
              <a:t>External APIs &amp; Services: Google Meet API, Google Translate API</a:t>
            </a:r>
            <a:endParaRPr lang="en-US" sz="1400" dirty="0">
              <a:latin typeface="Cambria"/>
            </a:endParaRPr>
          </a:p>
          <a:p>
            <a:pPr marL="495300" indent="-342900" algn="just">
              <a:lnSpc>
                <a:spcPct val="200000"/>
              </a:lnSpc>
              <a:spcBef>
                <a:spcPts val="0"/>
              </a:spcBef>
            </a:pPr>
            <a:r>
              <a:rPr lang="en-US" sz="1400" dirty="0">
                <a:latin typeface="Cambria"/>
              </a:rPr>
              <a:t>Hosting &amp; Deployment: GitHub, Netlify, Render</a:t>
            </a:r>
            <a:endParaRPr lang="en-US" sz="1400" dirty="0">
              <a:latin typeface="Cambria"/>
            </a:endParaRPr>
          </a:p>
          <a:p>
            <a:pPr marL="152400" indent="0" algn="just">
              <a:lnSpc>
                <a:spcPct val="200000"/>
              </a:lnSpc>
              <a:spcBef>
                <a:spcPts val="0"/>
              </a:spcBef>
              <a:buNone/>
            </a:pPr>
            <a:endParaRPr lang="en-US" sz="1400" dirty="0">
              <a:latin typeface="Cambria"/>
            </a:endParaRPr>
          </a:p>
          <a:p>
            <a:pPr marL="495300" lvl="0" indent="-342900" algn="just" rtl="0">
              <a:lnSpc>
                <a:spcPct val="200000"/>
              </a:lnSpc>
              <a:spcBef>
                <a:spcPts val="0"/>
              </a:spcBef>
              <a:spcAft>
                <a:spcPts val="0"/>
              </a:spcAft>
              <a:buClr>
                <a:schemeClr val="dk1"/>
              </a:buClr>
              <a:buSzPct val="100000"/>
            </a:pPr>
            <a:endParaRPr lang="en-US" sz="1400"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endParaRPr lang="en-US" sz="1400"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endParaRPr lang="en-US" sz="1400"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endParaRPr lang="en-US" sz="1400"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endParaRPr lang="en-US" sz="1400" dirty="0">
              <a:latin typeface="Cambria" panose="02040503050406030204" pitchFamily="18" charset="0"/>
              <a:ea typeface="Cambria" panose="020405030504060302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nSpc>
                <a:spcPct val="200000"/>
              </a:lnSpc>
            </a:pPr>
            <a:r>
              <a:rPr lang="en-US">
                <a:latin typeface="Cambria"/>
                <a:ea typeface="Cambria"/>
              </a:rPr>
              <a:t>Innovation or Novel Contributions</a:t>
            </a:r>
            <a:endParaRPr lang="en-US"/>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fontScale="80000"/>
          </a:bodyPr>
          <a:lstStyle/>
          <a:p>
            <a:pPr algn="just">
              <a:buNone/>
            </a:pPr>
            <a:r>
              <a:rPr lang="en-US" dirty="0">
                <a:latin typeface="Cambria"/>
              </a:rPr>
              <a:t>Our system is unique because it:</a:t>
            </a:r>
            <a:endParaRPr lang="en-US" dirty="0">
              <a:latin typeface="Cambria"/>
            </a:endParaRPr>
          </a:p>
          <a:p>
            <a:pPr marL="285750" indent="-285750" algn="just"/>
            <a:r>
              <a:rPr lang="en-US" dirty="0">
                <a:latin typeface="Cambria"/>
              </a:rPr>
              <a:t>Unified Learning Platform – Combines study materials, automated mentorship, progress tracking, and career resources in a single accessible web application.</a:t>
            </a:r>
            <a:endParaRPr lang="en-US" dirty="0">
              <a:latin typeface="Cambria"/>
            </a:endParaRPr>
          </a:p>
          <a:p>
            <a:pPr marL="285750" indent="-285750" algn="just"/>
            <a:r>
              <a:rPr lang="en-US" dirty="0">
                <a:latin typeface="Cambria"/>
              </a:rPr>
              <a:t>Multilingual Support – Enables learning in multiple Indian languages through rule-based NLP and custom language detection, ensuring inclusivity for students from diverse linguistic backgrounds.</a:t>
            </a:r>
            <a:endParaRPr lang="en-US" dirty="0">
              <a:latin typeface="Cambria"/>
            </a:endParaRPr>
          </a:p>
          <a:p>
            <a:pPr marL="285750" indent="-285750" algn="just"/>
            <a:r>
              <a:rPr lang="en-US" dirty="0">
                <a:latin typeface="Cambria"/>
              </a:rPr>
              <a:t>Automated Mentorship – Uses predefined multilingual templates and rule-based logic to offer motivational and educational guidance without the need for live mentors.</a:t>
            </a:r>
            <a:endParaRPr lang="en-US" dirty="0">
              <a:latin typeface="Cambria"/>
            </a:endParaRPr>
          </a:p>
          <a:p>
            <a:pPr marL="285750" indent="-285750" algn="just"/>
            <a:r>
              <a:rPr lang="en-US" dirty="0">
                <a:latin typeface="Cambria"/>
              </a:rPr>
              <a:t>Smart Content Suggestions – Recommends study materials and learning paths based on student progress and engagement data.</a:t>
            </a:r>
            <a:endParaRPr lang="en-US" dirty="0">
              <a:latin typeface="Cambria"/>
            </a:endParaRPr>
          </a:p>
          <a:p>
            <a:pPr marL="285750" indent="-285750" algn="just"/>
            <a:r>
              <a:rPr lang="en-US" dirty="0">
                <a:latin typeface="Cambria"/>
              </a:rPr>
              <a:t>Career and Scholarship Integration – Displays verified opportunities for scholarships, grants, and jobs to guide students beyond academics.</a:t>
            </a:r>
            <a:endParaRPr lang="en-US" dirty="0">
              <a:latin typeface="Cambria"/>
            </a:endParaRPr>
          </a:p>
          <a:p>
            <a:pPr marL="285750" indent="-285750" algn="just"/>
            <a:r>
              <a:rPr lang="en-US" dirty="0">
                <a:latin typeface="Cambria"/>
              </a:rPr>
              <a:t>Optimized for Low Bandwidth – Built as a lightweight system using Node.js and Tailwind CSS, supporting smooth operation even in regions with limited internet connectivity.</a:t>
            </a:r>
            <a:endParaRPr lang="en-US" dirty="0">
              <a:latin typeface="Cambri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br>
              <a:rPr lang="en-US" err="1">
                <a:latin typeface="Cambria" panose="02040503050406030204" pitchFamily="18" charset="0"/>
                <a:ea typeface="Cambria" panose="02040503050406030204" pitchFamily="18" charset="0"/>
                <a:sym typeface="+mn-ea"/>
              </a:rPr>
            </a:br>
            <a:r>
              <a:rPr lang="en-US" err="1">
                <a:latin typeface="Cambria" panose="02040503050406030204" pitchFamily="18" charset="0"/>
                <a:ea typeface="Cambria" panose="02040503050406030204" pitchFamily="18" charset="0"/>
                <a:sym typeface="+mn-ea"/>
              </a:rPr>
              <a:t>Git</a:t>
            </a:r>
            <a:r>
              <a:rPr lang="en-US">
                <a:latin typeface="Cambria" panose="02040503050406030204" pitchFamily="18" charset="0"/>
                <a:ea typeface="Cambria" panose="02040503050406030204" pitchFamily="18" charset="0"/>
                <a:sym typeface="+mn-ea"/>
              </a:rPr>
              <a:t>-hub Link</a:t>
            </a:r>
            <a:br>
              <a:rPr lang="en-US">
                <a:latin typeface="Cambria" panose="02040503050406030204" pitchFamily="18" charset="0"/>
                <a:ea typeface="Cambria" panose="02040503050406030204" pitchFamily="18" charset="0"/>
              </a:rPr>
            </a:br>
            <a:endParaRPr lang="en-US"/>
          </a:p>
        </p:txBody>
      </p:sp>
      <p:sp>
        <p:nvSpPr>
          <p:cNvPr id="3" name="Text Placeholder 2"/>
          <p:cNvSpPr>
            <a:spLocks noGrp="1"/>
          </p:cNvSpPr>
          <p:nvPr>
            <p:ph type="body" idx="1"/>
          </p:nvPr>
        </p:nvSpPr>
        <p:spPr/>
        <p:txBody>
          <a:bodyPr/>
          <a:p>
            <a:pPr marL="76200" indent="0">
              <a:buNone/>
            </a:pPr>
            <a:endParaRPr lang="en-US">
              <a:hlinkClick r:id="rId1" tooltip="" action="ppaction://hlinkfile"/>
            </a:endParaRPr>
          </a:p>
          <a:p>
            <a:pPr marL="76200" indent="0">
              <a:buNone/>
            </a:pPr>
            <a:endParaRPr lang="en-US">
              <a:hlinkClick r:id="rId1" tooltip="" action="ppaction://hlinkfile"/>
            </a:endParaRPr>
          </a:p>
          <a:p>
            <a:pPr marL="76200" indent="0">
              <a:buNone/>
            </a:pPr>
            <a:endParaRPr lang="en-US">
              <a:hlinkClick r:id="rId1" tooltip="" action="ppaction://hlinkfile"/>
            </a:endParaRPr>
          </a:p>
          <a:p>
            <a:pPr marL="76200" indent="0">
              <a:buNone/>
            </a:pPr>
            <a:r>
              <a:rPr lang="en-US">
                <a:hlinkClick r:id="rId1" tooltip="" action="ppaction://hlinkfile"/>
              </a:rPr>
              <a:t> https://github.com/imrxnsk/SmartEduRural.git</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a:latin typeface="Cambria" panose="02040503050406030204" pitchFamily="18" charset="0"/>
                <a:ea typeface="Cambria" panose="02040503050406030204" pitchFamily="18" charset="0"/>
              </a:rPr>
              <a:t>Timeline of the Project (Gantt Chart)</a:t>
            </a:r>
            <a:endParaRPr>
              <a:latin typeface="Cambria" panose="02040503050406030204" pitchFamily="18" charset="0"/>
              <a:ea typeface="Cambria" panose="02040503050406030204" pitchFamily="18" charset="0"/>
            </a:endParaRPr>
          </a:p>
        </p:txBody>
      </p:sp>
      <p:pic>
        <p:nvPicPr>
          <p:cNvPr id="4" name="Picture 3" descr="Gradient Colorful Web Development Gantt Chart Graph  (4)"/>
          <p:cNvPicPr>
            <a:picLocks noChangeAspect="1"/>
          </p:cNvPicPr>
          <p:nvPr/>
        </p:nvPicPr>
        <p:blipFill>
          <a:blip r:embed="rId1"/>
          <a:stretch>
            <a:fillRect/>
          </a:stretch>
        </p:blipFill>
        <p:spPr>
          <a:xfrm>
            <a:off x="2474595" y="1113790"/>
            <a:ext cx="6173470" cy="46304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a:t>
            </a:r>
            <a:endParaRPr lang="en-US" dirty="0"/>
          </a:p>
        </p:txBody>
      </p:sp>
      <p:sp>
        <p:nvSpPr>
          <p:cNvPr id="3" name="Text Placeholder 2"/>
          <p:cNvSpPr>
            <a:spLocks noGrp="1"/>
          </p:cNvSpPr>
          <p:nvPr>
            <p:ph type="body" idx="1"/>
          </p:nvPr>
        </p:nvSpPr>
        <p:spPr/>
        <p:txBody>
          <a:bodyPr>
            <a:normAutofit fontScale="80000"/>
          </a:bodyPr>
          <a:lstStyle/>
          <a:p>
            <a:r>
              <a:rPr lang="en-US" sz="2000" dirty="0">
                <a:latin typeface="Times New Roman" panose="02020603050405020304"/>
              </a:rPr>
              <a:t>Successfully developed a Smart Education System designed to enhance the quality of rural education through multilingual support, mentorship, and accessibility.</a:t>
            </a:r>
            <a:endParaRPr lang="en-US" sz="2000" dirty="0">
              <a:latin typeface="Times New Roman" panose="02020603050405020304"/>
            </a:endParaRPr>
          </a:p>
          <a:p>
            <a:r>
              <a:rPr lang="en-US" sz="2000" dirty="0">
                <a:latin typeface="Times New Roman" panose="02020603050405020304"/>
              </a:rPr>
              <a:t>Built a lightweight and responsive frontend using HTML5, JavaScript (ES6), and Tailwind CSS, ensuring compatibility with mobile and low-end devices.</a:t>
            </a:r>
            <a:endParaRPr lang="en-US" sz="2000" dirty="0">
              <a:latin typeface="Times New Roman" panose="02020603050405020304"/>
            </a:endParaRPr>
          </a:p>
          <a:p>
            <a:r>
              <a:rPr lang="en-US" sz="2000" dirty="0">
                <a:latin typeface="Times New Roman" panose="02020603050405020304"/>
              </a:rPr>
              <a:t>Implemented a modular Node.js backend using Express.js, with RESTful APIs managing data exchange, chatbot logic, and progress tracking.</a:t>
            </a:r>
            <a:endParaRPr lang="en-US" sz="2000" dirty="0">
              <a:latin typeface="Times New Roman" panose="02020603050405020304"/>
            </a:endParaRPr>
          </a:p>
          <a:p>
            <a:r>
              <a:rPr lang="en-US" sz="2000" b="1" dirty="0">
                <a:latin typeface="Times New Roman Bold" panose="02020603050405020304" charset="0"/>
                <a:cs typeface="Times New Roman Bold" panose="02020603050405020304" charset="0"/>
              </a:rPr>
              <a:t>Integrated Key Modules:</a:t>
            </a:r>
            <a:endParaRPr lang="en-US" sz="2000" b="1" dirty="0">
              <a:latin typeface="Times New Roman Bold" panose="02020603050405020304" charset="0"/>
              <a:cs typeface="Times New Roman Bold" panose="02020603050405020304" charset="0"/>
            </a:endParaRPr>
          </a:p>
          <a:p>
            <a:r>
              <a:rPr lang="en-US" sz="2000" dirty="0">
                <a:latin typeface="Times New Roman" panose="02020603050405020304"/>
              </a:rPr>
              <a:t>User Authentication – Login and registration for students, mentors, and parents.</a:t>
            </a:r>
            <a:endParaRPr lang="en-US" sz="2000" dirty="0">
              <a:latin typeface="Times New Roman" panose="02020603050405020304"/>
            </a:endParaRPr>
          </a:p>
          <a:p>
            <a:r>
              <a:rPr lang="en-US" sz="2000" dirty="0">
                <a:latin typeface="Times New Roman" panose="02020603050405020304"/>
              </a:rPr>
              <a:t>Study Materials Module – Allows students to access and download learning content in local/regional languages.</a:t>
            </a:r>
            <a:endParaRPr lang="en-US" sz="2000" dirty="0">
              <a:latin typeface="Times New Roman" panose="02020603050405020304"/>
            </a:endParaRPr>
          </a:p>
          <a:p>
            <a:r>
              <a:rPr lang="en-US" sz="2000" dirty="0">
                <a:latin typeface="Times New Roman" panose="02020603050405020304"/>
              </a:rPr>
              <a:t>Scholarship and Job Listings Module – Displays up-to-date information on available scholarships, grants, and employment opportunities.</a:t>
            </a:r>
            <a:endParaRPr lang="en-US" sz="2000" dirty="0">
              <a:latin typeface="Times New Roman" panose="02020603050405020304"/>
            </a:endParaRPr>
          </a:p>
          <a:p>
            <a:r>
              <a:rPr lang="en-US" sz="2000" dirty="0">
                <a:latin typeface="Times New Roman" panose="02020603050405020304"/>
              </a:rPr>
              <a:t>Student Progress Tracking Module – Enables students to monitor their learning performance and skill growth over time.</a:t>
            </a:r>
            <a:endParaRPr lang="en-US" sz="2000" dirty="0">
              <a:latin typeface="Times New Roman" panose="02020603050405020304"/>
            </a:endParaRPr>
          </a:p>
          <a:p>
            <a:r>
              <a:rPr lang="en-US" sz="2000" dirty="0">
                <a:latin typeface="Times New Roman" panose="02020603050405020304"/>
              </a:rPr>
              <a:t>Multilingual Chatbot Module – Supports real-time study-related queries in any language using rule-based NLP, franc language detection, and custom Indian script detection.</a:t>
            </a:r>
            <a:endParaRPr lang="en-US" sz="2000" dirty="0">
              <a:latin typeface="Times New Roman" panose="02020603050405020304"/>
            </a:endParaRPr>
          </a:p>
          <a:p>
            <a:r>
              <a:rPr lang="en-US" sz="2000" dirty="0">
                <a:latin typeface="Times New Roman" panose="02020603050405020304"/>
              </a:rPr>
              <a:t>Automated Mentorship Module – Provides motivational and educational guidance through predefined multilingual templates, simulating personalized mentoring for students.</a:t>
            </a:r>
            <a:endParaRPr lang="en-US" sz="2000" dirty="0">
              <a:latin typeface="Times New Roman" panose="020206030504050203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a:latin typeface="Cambria" panose="02040503050406030204" pitchFamily="18" charset="0"/>
                <a:ea typeface="Cambria" panose="02040503050406030204" pitchFamily="18" charset="0"/>
              </a:rPr>
              <a:t>References (IEEE Paper format)</a:t>
            </a:r>
            <a:endParaRPr>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92500" lnSpcReduction="20000"/>
          </a:bodyPr>
          <a:lstStyle/>
          <a:p>
            <a:pPr algn="just">
              <a:buNone/>
            </a:pPr>
            <a:r>
              <a:rPr lang="en-US" sz="1800" dirty="0">
                <a:latin typeface="Cambria"/>
              </a:rPr>
              <a:t>1] A. Bardia and A. Agrawal, “</a:t>
            </a:r>
            <a:r>
              <a:rPr lang="en-US" sz="1800" err="1">
                <a:latin typeface="Cambria"/>
              </a:rPr>
              <a:t>MindCraft</a:t>
            </a:r>
            <a:r>
              <a:rPr lang="en-US" sz="1800" dirty="0">
                <a:latin typeface="Cambria"/>
              </a:rPr>
              <a:t>: Revolutionizing Education through AI-Powered Personalized Learning and Mentorship for Rural India,” </a:t>
            </a:r>
            <a:r>
              <a:rPr lang="en-US" sz="1800" i="1" err="1">
                <a:latin typeface="Cambria"/>
              </a:rPr>
              <a:t>arXiv</a:t>
            </a:r>
            <a:r>
              <a:rPr lang="en-US" sz="1800" i="1" dirty="0">
                <a:latin typeface="Cambria"/>
              </a:rPr>
              <a:t> preprint</a:t>
            </a:r>
            <a:r>
              <a:rPr lang="en-US" sz="1800" dirty="0">
                <a:latin typeface="Cambria"/>
              </a:rPr>
              <a:t> arXiv:2502.05826, Feb. 2025. </a:t>
            </a:r>
            <a:endParaRPr lang="en-US" sz="1800" dirty="0">
              <a:latin typeface="Cambria"/>
            </a:endParaRPr>
          </a:p>
          <a:p>
            <a:pPr algn="just">
              <a:buNone/>
            </a:pPr>
            <a:r>
              <a:rPr lang="en-US" sz="1800" dirty="0">
                <a:latin typeface="Cambria"/>
              </a:rPr>
              <a:t>[2] Aashish Jain and Rohit Khokher, “Technologies for Quality and Sustainable Online Education in Rural India: A Comprehensive Review,” in </a:t>
            </a:r>
            <a:r>
              <a:rPr lang="en-US" sz="1800" i="1" dirty="0">
                <a:latin typeface="Cambria"/>
              </a:rPr>
              <a:t>Kaleidoscope: ITU Academic Conference</a:t>
            </a:r>
            <a:r>
              <a:rPr lang="en-US" sz="1800" dirty="0">
                <a:latin typeface="Cambria"/>
              </a:rPr>
              <a:t>, 2024. </a:t>
            </a:r>
            <a:endParaRPr lang="en-US">
              <a:latin typeface="Cambria"/>
            </a:endParaRPr>
          </a:p>
          <a:p>
            <a:pPr algn="just">
              <a:buNone/>
            </a:pPr>
            <a:r>
              <a:rPr lang="en-US" sz="1800" dirty="0">
                <a:latin typeface="Cambria"/>
              </a:rPr>
              <a:t>[3] R. Vaidehi, A. </a:t>
            </a:r>
            <a:r>
              <a:rPr lang="en-US" sz="1800" err="1">
                <a:latin typeface="Cambria"/>
              </a:rPr>
              <a:t>Bheemeshwar</a:t>
            </a:r>
            <a:r>
              <a:rPr lang="en-US" sz="1800" dirty="0">
                <a:latin typeface="Cambria"/>
              </a:rPr>
              <a:t> Reddy, and S. Banerjee, “Explaining Caste-based Digital Divide in India,” </a:t>
            </a:r>
            <a:r>
              <a:rPr lang="en-US" sz="1800" i="1" err="1">
                <a:latin typeface="Cambria"/>
              </a:rPr>
              <a:t>arXiv</a:t>
            </a:r>
            <a:r>
              <a:rPr lang="en-US" sz="1800" i="1" dirty="0">
                <a:latin typeface="Cambria"/>
              </a:rPr>
              <a:t> preprint</a:t>
            </a:r>
            <a:r>
              <a:rPr lang="en-US" sz="1800" dirty="0">
                <a:latin typeface="Cambria"/>
              </a:rPr>
              <a:t> arXiv:2106.15917, Jun. 2021. </a:t>
            </a:r>
            <a:endParaRPr lang="en-US" sz="1800" dirty="0">
              <a:latin typeface="Cambria"/>
            </a:endParaRPr>
          </a:p>
          <a:p>
            <a:pPr algn="just">
              <a:buNone/>
            </a:pPr>
            <a:r>
              <a:rPr lang="en-US" sz="1800" dirty="0">
                <a:latin typeface="Cambria"/>
              </a:rPr>
              <a:t>[4] S. Hussain, Z. Wang, and S. Rahim, “E-learning Services for Rural Communities,” </a:t>
            </a:r>
            <a:r>
              <a:rPr lang="en-US" sz="1800" i="1" err="1">
                <a:latin typeface="Cambria"/>
              </a:rPr>
              <a:t>arXiv</a:t>
            </a:r>
            <a:r>
              <a:rPr lang="en-US" sz="1800" i="1" dirty="0">
                <a:latin typeface="Cambria"/>
              </a:rPr>
              <a:t> preprint</a:t>
            </a:r>
            <a:r>
              <a:rPr lang="en-US" sz="1800" dirty="0">
                <a:latin typeface="Cambria"/>
              </a:rPr>
              <a:t> arXiv:1308.4820, Aug. 2013. </a:t>
            </a:r>
            <a:endParaRPr lang="en-US" sz="1800" dirty="0">
              <a:latin typeface="Cambria"/>
            </a:endParaRPr>
          </a:p>
          <a:p>
            <a:pPr algn="just">
              <a:buNone/>
            </a:pPr>
            <a:r>
              <a:rPr lang="en-US" sz="1800" dirty="0">
                <a:latin typeface="Cambria"/>
              </a:rPr>
              <a:t>[5] N. Singh, S. Singh, B. Goswami, S. Kumar, and B. Kumar, “Bridging the Digital Divide: A Comprehensive Analysis of ICT Infrastructure in Rural Schools of Jharkhand, India,” </a:t>
            </a:r>
            <a:r>
              <a:rPr lang="en-US" sz="1800" i="1" dirty="0">
                <a:latin typeface="Cambria"/>
              </a:rPr>
              <a:t>Educational Administration: Theory and Practice</a:t>
            </a:r>
            <a:r>
              <a:rPr lang="en-US" sz="1800" dirty="0">
                <a:latin typeface="Cambria"/>
              </a:rPr>
              <a:t>, vol. 30, no. 6, pp. 4456–4460, Jun. 2024. </a:t>
            </a:r>
            <a:endParaRPr lang="en-US" sz="1800" dirty="0">
              <a:latin typeface="Cambria"/>
            </a:endParaRPr>
          </a:p>
          <a:p>
            <a:pPr algn="just">
              <a:buNone/>
            </a:pPr>
            <a:r>
              <a:rPr lang="en-US" sz="1800" dirty="0">
                <a:latin typeface="Cambria"/>
              </a:rPr>
              <a:t>[6] Y. Yu, D. Appiah, B. Zulu, and K. A. </a:t>
            </a:r>
            <a:r>
              <a:rPr lang="en-US" sz="1800" dirty="0" err="1">
                <a:latin typeface="Cambria"/>
              </a:rPr>
              <a:t>AduPoku</a:t>
            </a:r>
            <a:r>
              <a:rPr lang="en-US" sz="1800" dirty="0">
                <a:latin typeface="Cambria"/>
              </a:rPr>
              <a:t>, “Integrating Rural Development, Education, and Management: Challenges and Strategies,” 2024.</a:t>
            </a:r>
            <a:endParaRPr lang="en-US" dirty="0">
              <a:latin typeface="Cambria"/>
            </a:endParaRPr>
          </a:p>
          <a:p>
            <a:pPr algn="just">
              <a:buNone/>
            </a:pPr>
            <a:r>
              <a:rPr lang="en-US" sz="1800" dirty="0">
                <a:latin typeface="Cambria"/>
              </a:rPr>
              <a:t>[7] X. Wang, G. W. Young, M. Z. Iqbal, and C. Mc Guckin, “The potential of extended reality in rural education’s future – perspectives from rural educators,” 2024.</a:t>
            </a:r>
            <a:endParaRPr lang="en-US" dirty="0">
              <a:latin typeface="Cambria"/>
            </a:endParaRPr>
          </a:p>
          <a:p>
            <a:pPr algn="just">
              <a:buNone/>
            </a:pPr>
            <a:r>
              <a:rPr lang="en-US" sz="1800" dirty="0">
                <a:latin typeface="Cambria"/>
              </a:rPr>
              <a:t>[8] P. D. Maheshwari, “Digital intervention in elementary education: </a:t>
            </a:r>
            <a:r>
              <a:rPr lang="en-US" sz="1800" dirty="0" err="1">
                <a:latin typeface="Cambria"/>
              </a:rPr>
              <a:t>Analysing</a:t>
            </a:r>
            <a:r>
              <a:rPr lang="en-US" sz="1800" dirty="0">
                <a:latin typeface="Cambria"/>
              </a:rPr>
              <a:t> the implementation of NEP 2020 in rural India,” 2024.</a:t>
            </a:r>
            <a:endParaRPr lang="en-US" dirty="0">
              <a:latin typeface="Cambria"/>
            </a:endParaRPr>
          </a:p>
          <a:p>
            <a:pPr algn="just">
              <a:buNone/>
            </a:pPr>
            <a:r>
              <a:rPr lang="en-US" sz="1800" dirty="0">
                <a:latin typeface="Cambria"/>
              </a:rPr>
              <a:t>[9] M. T. K. Farooqi, I. Amanat, and M. Awan, “Ethical considerations and challenges in the integration of artificial intelligence in education: A systematic review,” Sep. 15, 2024.</a:t>
            </a:r>
            <a:endParaRPr lang="en-US" dirty="0">
              <a:latin typeface="Cambria"/>
            </a:endParaRPr>
          </a:p>
          <a:p>
            <a:pPr algn="just">
              <a:buNone/>
            </a:pPr>
            <a:r>
              <a:rPr lang="en-US" sz="1800" dirty="0">
                <a:latin typeface="Cambria"/>
              </a:rPr>
              <a:t>[10] Y. Lin, “Application and challenges of computer networks in distance education,” 2024.</a:t>
            </a:r>
            <a:endParaRPr lang="en-US" dirty="0">
              <a:latin typeface="Cambria"/>
            </a:endParaRPr>
          </a:p>
          <a:p>
            <a:pPr algn="just">
              <a:buNone/>
            </a:pPr>
            <a:endParaRPr lang="en-US" sz="1800" dirty="0">
              <a:latin typeface="Cambria"/>
            </a:endParaRPr>
          </a:p>
          <a:p>
            <a:pPr marL="152400" indent="0" algn="just">
              <a:spcBef>
                <a:spcPts val="0"/>
              </a:spcBef>
              <a:buNone/>
            </a:pPr>
            <a:endParaRPr lang="en-US" sz="1600" dirty="0">
              <a:latin typeface="Cambria"/>
              <a:ea typeface="Cambria"/>
            </a:endParaRPr>
          </a:p>
          <a:p>
            <a:pPr marL="152400" indent="0" algn="just">
              <a:spcBef>
                <a:spcPts val="0"/>
              </a:spcBef>
              <a:buNone/>
            </a:pPr>
            <a:endParaRPr lang="en-US" sz="1600" dirty="0">
              <a:latin typeface="Cambria"/>
              <a:ea typeface="Cambria"/>
            </a:endParaRPr>
          </a:p>
          <a:p>
            <a:pPr marL="152400" indent="0" algn="just">
              <a:spcBef>
                <a:spcPts val="0"/>
              </a:spcBef>
              <a:buNone/>
            </a:pPr>
            <a:endParaRPr lang="en-US" sz="1600" dirty="0">
              <a:latin typeface="Cambria"/>
              <a:ea typeface="Cambri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a:ea typeface="Cambria"/>
              </a:rPr>
              <a:t>References (IEEE Paper format)(contd...)</a:t>
            </a:r>
            <a:endParaRPr lang="en-US" b="0" dirty="0">
              <a:solidFill>
                <a:srgbClr val="000000"/>
              </a:solidFill>
              <a:latin typeface="Cambria"/>
              <a:ea typeface="Cambria"/>
            </a:endParaRPr>
          </a:p>
        </p:txBody>
      </p:sp>
      <p:sp>
        <p:nvSpPr>
          <p:cNvPr id="3" name="Text Placeholder 2"/>
          <p:cNvSpPr>
            <a:spLocks noGrp="1"/>
          </p:cNvSpPr>
          <p:nvPr>
            <p:ph type="body" idx="1"/>
          </p:nvPr>
        </p:nvSpPr>
        <p:spPr/>
        <p:txBody>
          <a:bodyPr>
            <a:normAutofit lnSpcReduction="10000"/>
          </a:bodyPr>
          <a:lstStyle/>
          <a:p>
            <a:pPr>
              <a:buNone/>
            </a:pPr>
            <a:r>
              <a:rPr lang="en-US" sz="1600" dirty="0">
                <a:latin typeface="Cambria"/>
                <a:ea typeface="Cambria"/>
              </a:rPr>
              <a:t>[11] O. </a:t>
            </a:r>
            <a:r>
              <a:rPr lang="en-US" sz="1600" dirty="0" err="1">
                <a:latin typeface="Cambria"/>
                <a:ea typeface="Cambria"/>
              </a:rPr>
              <a:t>Darojat</a:t>
            </a:r>
            <a:r>
              <a:rPr lang="en-US" sz="1600" dirty="0">
                <a:latin typeface="Cambria"/>
                <a:ea typeface="Cambria"/>
              </a:rPr>
              <a:t>, A. </a:t>
            </a:r>
            <a:r>
              <a:rPr lang="en-US" sz="1600" dirty="0" err="1">
                <a:latin typeface="Cambria"/>
                <a:ea typeface="Cambria"/>
              </a:rPr>
              <a:t>Sudrajat</a:t>
            </a:r>
            <a:r>
              <a:rPr lang="en-US" sz="1600" dirty="0">
                <a:latin typeface="Cambria"/>
                <a:ea typeface="Cambria"/>
              </a:rPr>
              <a:t>, </a:t>
            </a:r>
            <a:r>
              <a:rPr lang="en-US" sz="1600" dirty="0" err="1">
                <a:latin typeface="Cambria"/>
                <a:ea typeface="Cambria"/>
              </a:rPr>
              <a:t>Darsiharjo</a:t>
            </a:r>
            <a:r>
              <a:rPr lang="en-US" sz="1600" dirty="0">
                <a:latin typeface="Cambria"/>
                <a:ea typeface="Cambria"/>
              </a:rPr>
              <a:t>, L. D. </a:t>
            </a:r>
            <a:r>
              <a:rPr lang="en-US" sz="1600" dirty="0" err="1">
                <a:latin typeface="Cambria"/>
                <a:ea typeface="Cambria"/>
              </a:rPr>
              <a:t>Ningtyas</a:t>
            </a:r>
            <a:r>
              <a:rPr lang="en-US" sz="1600" dirty="0">
                <a:latin typeface="Cambria"/>
                <a:ea typeface="Cambria"/>
              </a:rPr>
              <a:t>, and C. </a:t>
            </a:r>
            <a:r>
              <a:rPr lang="en-US" sz="1600" dirty="0" err="1">
                <a:latin typeface="Cambria"/>
                <a:ea typeface="Cambria"/>
              </a:rPr>
              <a:t>Kustandi</a:t>
            </a:r>
            <a:r>
              <a:rPr lang="en-US" sz="1600" dirty="0">
                <a:latin typeface="Cambria"/>
                <a:ea typeface="Cambria"/>
              </a:rPr>
              <a:t>, “Implementation of learning media </a:t>
            </a:r>
            <a:r>
              <a:rPr lang="en-US" sz="1600" dirty="0" err="1">
                <a:latin typeface="Cambria"/>
                <a:ea typeface="Cambria"/>
              </a:rPr>
              <a:t>usedbystudents</a:t>
            </a:r>
            <a:r>
              <a:rPr lang="en-US" sz="1600" dirty="0">
                <a:latin typeface="Cambria"/>
                <a:ea typeface="Cambria"/>
              </a:rPr>
              <a:t> in rural areas: A mixed-method study,” 2025.</a:t>
            </a:r>
            <a:endParaRPr lang="en-US" sz="1600" dirty="0">
              <a:latin typeface="Cambria"/>
              <a:ea typeface="Cambria"/>
            </a:endParaRPr>
          </a:p>
          <a:p>
            <a:pPr>
              <a:buNone/>
            </a:pPr>
            <a:r>
              <a:rPr lang="en-US" sz="1600" dirty="0">
                <a:latin typeface="Cambria"/>
                <a:ea typeface="Cambria"/>
              </a:rPr>
              <a:t>[12] A. Zulfiqar, M. Bilal, and M. N. Iqbal, “Identification of factors affecting the quality of education in </a:t>
            </a:r>
            <a:r>
              <a:rPr lang="en-US" sz="1600" dirty="0" err="1">
                <a:latin typeface="Cambria"/>
                <a:ea typeface="Cambria"/>
              </a:rPr>
              <a:t>ruralareas’elementary</a:t>
            </a:r>
            <a:r>
              <a:rPr lang="en-US" sz="1600" dirty="0">
                <a:latin typeface="Cambria"/>
                <a:ea typeface="Cambria"/>
              </a:rPr>
              <a:t> schools,” 2024.</a:t>
            </a:r>
            <a:endParaRPr lang="en-US" sz="1600" dirty="0">
              <a:latin typeface="Cambria"/>
              <a:ea typeface="Cambria"/>
            </a:endParaRPr>
          </a:p>
          <a:p>
            <a:pPr>
              <a:buNone/>
            </a:pPr>
            <a:r>
              <a:rPr lang="en-US" sz="1600" dirty="0">
                <a:latin typeface="Cambria"/>
                <a:ea typeface="Cambria"/>
              </a:rPr>
              <a:t>[13] C. Wang, “Rural education development and reform: Implementation of quality education and innovation </a:t>
            </a:r>
            <a:r>
              <a:rPr lang="en-US" sz="1600" dirty="0" err="1">
                <a:latin typeface="Cambria"/>
                <a:ea typeface="Cambria"/>
              </a:rPr>
              <a:t>intheeducation</a:t>
            </a:r>
            <a:r>
              <a:rPr lang="en-US" sz="1600" dirty="0">
                <a:latin typeface="Cambria"/>
                <a:ea typeface="Cambria"/>
              </a:rPr>
              <a:t> system,” 2024.</a:t>
            </a:r>
            <a:endParaRPr lang="en-US" sz="1600" dirty="0">
              <a:latin typeface="Cambria"/>
              <a:ea typeface="Cambria"/>
            </a:endParaRPr>
          </a:p>
          <a:p>
            <a:pPr>
              <a:buNone/>
            </a:pPr>
            <a:r>
              <a:rPr lang="en-US" sz="1600" dirty="0">
                <a:latin typeface="Cambria"/>
                <a:ea typeface="Cambria"/>
              </a:rPr>
              <a:t>[14] R. Kapur, “Understanding education system in rural communities,” 2022.</a:t>
            </a:r>
            <a:endParaRPr lang="en-US" sz="1600" dirty="0">
              <a:latin typeface="Cambria"/>
              <a:ea typeface="Cambria"/>
            </a:endParaRPr>
          </a:p>
          <a:p>
            <a:pPr>
              <a:buNone/>
            </a:pPr>
            <a:r>
              <a:rPr lang="en-US" sz="1600" dirty="0">
                <a:latin typeface="Cambria"/>
                <a:ea typeface="Cambria"/>
              </a:rPr>
              <a:t>[15] K. S. Suryanarayana, V. S. P. Kandi, G. Pavani, A. S. Rao, S. Rout, and T. S. R. Krishna, “Artificial </a:t>
            </a:r>
            <a:r>
              <a:rPr lang="en-US" sz="1600" dirty="0" err="1">
                <a:latin typeface="Cambria"/>
                <a:ea typeface="Cambria"/>
              </a:rPr>
              <a:t>intelligenceenhanceddigital</a:t>
            </a:r>
            <a:r>
              <a:rPr lang="en-US" sz="1600" dirty="0">
                <a:latin typeface="Cambria"/>
                <a:ea typeface="Cambria"/>
              </a:rPr>
              <a:t> learning for the sustainability of education management system,” 2024.</a:t>
            </a:r>
            <a:endParaRPr lang="en-US" sz="1600" dirty="0">
              <a:latin typeface="Cambria"/>
              <a:ea typeface="Cambria"/>
            </a:endParaRPr>
          </a:p>
          <a:p>
            <a:pPr>
              <a:buNone/>
            </a:pPr>
            <a:r>
              <a:rPr lang="en-US" sz="1600" dirty="0">
                <a:latin typeface="Cambria"/>
                <a:ea typeface="Cambria"/>
              </a:rPr>
              <a:t>[16] Y. Sun et al., “Who changed the destiny of rural students, and how?: Unpacking ICT-mediated </a:t>
            </a:r>
            <a:r>
              <a:rPr lang="en-US" sz="1600" dirty="0" err="1">
                <a:latin typeface="Cambria"/>
                <a:ea typeface="Cambria"/>
              </a:rPr>
              <a:t>remoteeducation</a:t>
            </a:r>
            <a:r>
              <a:rPr lang="en-US" sz="1600" dirty="0">
                <a:latin typeface="Cambria"/>
                <a:ea typeface="Cambria"/>
              </a:rPr>
              <a:t> </a:t>
            </a:r>
            <a:r>
              <a:rPr lang="en-US" sz="1600" dirty="0" err="1">
                <a:latin typeface="Cambria"/>
                <a:ea typeface="Cambria"/>
              </a:rPr>
              <a:t>inrural</a:t>
            </a:r>
            <a:r>
              <a:rPr lang="en-US" sz="1600" dirty="0">
                <a:latin typeface="Cambria"/>
                <a:ea typeface="Cambria"/>
              </a:rPr>
              <a:t> China,” 2024.</a:t>
            </a:r>
            <a:endParaRPr lang="en-US" sz="1600" dirty="0">
              <a:latin typeface="Cambria"/>
              <a:ea typeface="Cambria"/>
            </a:endParaRPr>
          </a:p>
          <a:p>
            <a:pPr>
              <a:buNone/>
            </a:pPr>
            <a:r>
              <a:rPr lang="en-US" sz="1600" dirty="0">
                <a:latin typeface="Cambria"/>
                <a:ea typeface="Cambria"/>
              </a:rPr>
              <a:t>[17] S. M. Singh, S. K. Garg, A. Misra, A. Seth, and T. Chakraborty, “SUKHSANDESH: An avatar </a:t>
            </a:r>
            <a:r>
              <a:rPr lang="en-US" sz="1600" dirty="0" err="1">
                <a:latin typeface="Cambria"/>
                <a:ea typeface="Cambria"/>
              </a:rPr>
              <a:t>therapeuticquestionanswering</a:t>
            </a:r>
            <a:r>
              <a:rPr lang="en-US" sz="1600" dirty="0">
                <a:latin typeface="Cambria"/>
                <a:ea typeface="Cambria"/>
              </a:rPr>
              <a:t> platform for sexual education in rural India,” 2024.</a:t>
            </a:r>
            <a:endParaRPr lang="en-US" sz="1600" dirty="0">
              <a:latin typeface="Cambria"/>
              <a:ea typeface="Cambria"/>
            </a:endParaRPr>
          </a:p>
          <a:p>
            <a:pPr>
              <a:buNone/>
            </a:pPr>
            <a:r>
              <a:rPr lang="en-US" sz="1600" dirty="0">
                <a:latin typeface="Cambria"/>
                <a:ea typeface="Cambria"/>
              </a:rPr>
              <a:t>[18] T.-H. Hsieh and X. Lai, “Analyzing rural online education talent development with data and </a:t>
            </a:r>
            <a:r>
              <a:rPr lang="en-US" sz="1600" dirty="0" err="1">
                <a:latin typeface="Cambria"/>
                <a:ea typeface="Cambria"/>
              </a:rPr>
              <a:t>machinelearning</a:t>
            </a:r>
            <a:r>
              <a:rPr lang="en-US" sz="1600" dirty="0">
                <a:latin typeface="Cambria"/>
                <a:ea typeface="Cambria"/>
              </a:rPr>
              <a:t>,” 2024.</a:t>
            </a:r>
            <a:endParaRPr lang="en-US" sz="1600" dirty="0">
              <a:latin typeface="Cambria"/>
              <a:ea typeface="Cambria"/>
            </a:endParaRPr>
          </a:p>
          <a:p>
            <a:pPr>
              <a:buNone/>
            </a:pPr>
            <a:r>
              <a:rPr lang="en-US" sz="1600" dirty="0">
                <a:latin typeface="Cambria"/>
                <a:ea typeface="Cambria"/>
              </a:rPr>
              <a:t>[19] Multiple authors, “Research on the status quo of rural teaching based on generative artificialintelligence,”2024/2025.</a:t>
            </a:r>
            <a:endParaRPr lang="en-US" sz="1600" dirty="0">
              <a:latin typeface="Cambria"/>
              <a:ea typeface="Cambria"/>
            </a:endParaRPr>
          </a:p>
          <a:p>
            <a:pPr>
              <a:buNone/>
            </a:pPr>
            <a:r>
              <a:rPr lang="en-US" sz="1600" dirty="0">
                <a:latin typeface="Cambria"/>
                <a:ea typeface="Cambria"/>
              </a:rPr>
              <a:t>[20] A. Bardia and A. Agrawal, “</a:t>
            </a:r>
            <a:r>
              <a:rPr lang="en-US" sz="1600" dirty="0" err="1">
                <a:latin typeface="Cambria"/>
                <a:ea typeface="Cambria"/>
              </a:rPr>
              <a:t>MindCraft</a:t>
            </a:r>
            <a:r>
              <a:rPr lang="en-US" sz="1600" dirty="0">
                <a:latin typeface="Cambria"/>
                <a:ea typeface="Cambria"/>
              </a:rPr>
              <a:t>: Revolutionizing education through AI-powered personalized </a:t>
            </a:r>
            <a:r>
              <a:rPr lang="en-US" sz="1600" dirty="0" err="1">
                <a:latin typeface="Cambria"/>
                <a:ea typeface="Cambria"/>
              </a:rPr>
              <a:t>learningandmentorship</a:t>
            </a:r>
            <a:r>
              <a:rPr lang="en-US" sz="1600" dirty="0">
                <a:latin typeface="Cambria"/>
                <a:ea typeface="Cambria"/>
              </a:rPr>
              <a:t> for rural India,” 2025.</a:t>
            </a:r>
            <a:endParaRPr lang="en-US" sz="1600" dirty="0">
              <a:latin typeface="Cambria"/>
              <a:ea typeface="Cambria"/>
            </a:endParaRPr>
          </a:p>
          <a:p>
            <a:pPr marL="76200" indent="0">
              <a:buNone/>
            </a:pPr>
            <a:endParaRPr lang="en-US" sz="1600" dirty="0">
              <a:latin typeface="Cambria"/>
              <a:ea typeface="Cambria"/>
            </a:endParaRPr>
          </a:p>
          <a:p>
            <a:pPr marL="76200" indent="0">
              <a:buNone/>
            </a:pPr>
            <a:endParaRPr lang="en-US" sz="2200" dirty="0"/>
          </a:p>
          <a:p>
            <a:pPr marL="76200" indent="0">
              <a:buNone/>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15318</Words>
  <Application>WPS Writer</Application>
  <PresentationFormat>Widescreen</PresentationFormat>
  <Paragraphs>413</Paragraphs>
  <Slides>19</Slides>
  <Notes>8</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19</vt:i4>
      </vt:variant>
    </vt:vector>
  </HeadingPairs>
  <TitlesOfParts>
    <vt:vector size="36" baseType="lpstr">
      <vt:lpstr>Arial</vt:lpstr>
      <vt:lpstr>SimSun</vt:lpstr>
      <vt:lpstr>Wingdings</vt:lpstr>
      <vt:lpstr>Arial</vt:lpstr>
      <vt:lpstr>Verdana</vt:lpstr>
      <vt:lpstr>Bookman Old Style</vt:lpstr>
      <vt:lpstr>Thonburi</vt:lpstr>
      <vt:lpstr>Cambria</vt:lpstr>
      <vt:lpstr>Cambria</vt:lpstr>
      <vt:lpstr>苹方-简</vt:lpstr>
      <vt:lpstr>Times New Roman</vt:lpstr>
      <vt:lpstr>Times New Roman Bold</vt:lpstr>
      <vt:lpstr>Microsoft YaHei</vt:lpstr>
      <vt:lpstr>汉仪旗黑</vt:lpstr>
      <vt:lpstr>Arial Unicode MS</vt:lpstr>
      <vt:lpstr>宋体-简</vt:lpstr>
      <vt:lpstr>Bioinformatics</vt:lpstr>
      <vt:lpstr>SYSTEM TO ENHANCE EDUCATION QUALITY IN RURAL AREAS</vt:lpstr>
      <vt:lpstr>Content</vt:lpstr>
      <vt:lpstr>Problem Statement</vt:lpstr>
      <vt:lpstr>Objectives</vt:lpstr>
      <vt:lpstr>Background and Related work</vt:lpstr>
      <vt:lpstr>Background and Related work(contd...)</vt:lpstr>
      <vt:lpstr>Background and Related work(contd...)</vt:lpstr>
      <vt:lpstr>Background and Related work(contd...)</vt:lpstr>
      <vt:lpstr>Architecture Diagram</vt:lpstr>
      <vt:lpstr>Modules</vt:lpstr>
      <vt:lpstr>Algorithms</vt:lpstr>
      <vt:lpstr>Hardware and Software Requirements</vt:lpstr>
      <vt:lpstr>Innovation or Novel Contributions</vt:lpstr>
      <vt:lpstr>PowerPoint 演示文稿</vt:lpstr>
      <vt:lpstr>Timeline of the Project (Gantt Chart)</vt:lpstr>
      <vt:lpstr>Result</vt:lpstr>
      <vt:lpstr>References (IEEE Paper format)</vt:lpstr>
      <vt:lpstr>References (IEEE Paper format)(contd...)</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srikorrapati</cp:lastModifiedBy>
  <cp:revision>511</cp:revision>
  <dcterms:created xsi:type="dcterms:W3CDTF">2025-11-27T14:45:38Z</dcterms:created>
  <dcterms:modified xsi:type="dcterms:W3CDTF">2025-11-27T14:45:38Z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1033-5.2.1.7924</vt:lpwstr>
  </property>
</Properties>
</file>